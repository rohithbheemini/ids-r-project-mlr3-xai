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09728" cy="3840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Calibri"/>
              </a:defRPr>
            </a:pPr>
            <a:r>
              <a:t>EXPLAINABLE MACHINE LEARNING IN PRODUCTION</a:t>
            </a:r>
          </a:p>
          <a:p>
            <a:pPr>
              <a:spcBef>
                <a:spcPts val="800"/>
              </a:spcBef>
              <a:defRPr sz="3800" b="1">
                <a:solidFill>
                  <a:srgbClr val="FFFFFF"/>
                </a:solidFill>
                <a:latin typeface="Calibri"/>
              </a:defRPr>
            </a:pPr>
            <a:r>
              <a:t>Transparent Property Valuation</a:t>
            </a:r>
          </a:p>
          <a:p>
            <a:pPr>
              <a:spcBef>
                <a:spcPts val="800"/>
              </a:spcBef>
              <a:defRPr sz="1800">
                <a:solidFill>
                  <a:srgbClr val="BFDBFE"/>
                </a:solidFill>
                <a:latin typeface="Calibri"/>
              </a:defRPr>
            </a:pPr>
            <a:r>
              <a:t>An End-to-End Regression System with Leakage-Safe DAG Pipelines &amp; Dual XAI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Moving past opaque black-box valuations: combining strict mlr3pipelines DAGs, multi-model benchmarking across 6 families, and game-theoretic SHAP &amp; LIME attribution to deliver accountable, auditable residential appraisals in Ames, Iowa.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Calibri"/>
              </a:defRPr>
            </a:pPr>
            <a:r>
              <a:t>Dataset: 2,930 Ames Properties  |  Architecture: mlr3pipelines DAG  |  Holdout MAE: $14,761 (R² = 89.8%)  |  UI: Interactive Shiny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THE REAL-WORLD PROBLEM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Calibri"/>
              </a:defRPr>
            </a:pPr>
            <a:r>
              <a:t>The Valuation Dilemma: Accuracy vs.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Why traditional property appraisal forces an unacceptable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Explainable House Price Prediction System in R (mlr3 + XAI) • Slide 2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12064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57200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DC2626"/>
                </a:solidFill>
                <a:latin typeface="Calibri"/>
              </a:defRPr>
            </a:pPr>
            <a:r>
              <a:t>The Black-Box Seduction</a:t>
            </a:r>
          </a:p>
          <a:p>
            <a:pPr>
              <a:spcBef>
                <a:spcPts val="800"/>
              </a:spcBef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High Raw Accuracy: </a:t>
            </a:r>
            <a:r>
              <a:rPr>
                <a:solidFill>
                  <a:srgbClr val="1E293B"/>
                </a:solidFill>
              </a:rPr>
              <a:t>Complex gradient boosted trees and neural networks capture subtle nonlinearities and reduce headline RMSE.</a:t>
            </a:r>
          </a:p>
          <a:p>
            <a:pPr>
              <a:spcBef>
                <a:spcPts val="800"/>
              </a:spcBef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Total Opacity: </a:t>
            </a:r>
            <a:r>
              <a:rPr>
                <a:solidFill>
                  <a:srgbClr val="1E293B"/>
                </a:solidFill>
              </a:rPr>
              <a:t>Borrowers, loan officers, and auditors are handed a single dollar number with zero explainable reasoning.</a:t>
            </a:r>
          </a:p>
          <a:p>
            <a:pPr>
              <a:spcBef>
                <a:spcPts val="800"/>
              </a:spcBef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The Compliance Wall: </a:t>
            </a:r>
            <a:r>
              <a:rPr>
                <a:solidFill>
                  <a:srgbClr val="1E293B"/>
                </a:solidFill>
              </a:rPr>
              <a:t>When a home is appraised $40,000 below market, saying 'the algorithm decided' violates Fair Lending guidelines and loses customer trust.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2120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6344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Calibri"/>
              </a:defRPr>
            </a:pPr>
            <a:r>
              <a:t>The Classical Linear Limitation</a:t>
            </a:r>
          </a:p>
          <a:p>
            <a:pPr>
              <a:spcBef>
                <a:spcPts val="800"/>
              </a:spcBef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Total Mathematical Clarity: </a:t>
            </a:r>
            <a:r>
              <a:rPr>
                <a:solidFill>
                  <a:srgbClr val="1E293B"/>
                </a:solidFill>
              </a:rPr>
              <a:t>Classical hedonic OLS models are easy to inspect—every feature has a straightforward dollar slope.</a:t>
            </a:r>
          </a:p>
          <a:p>
            <a:pPr>
              <a:spcBef>
                <a:spcPts val="800"/>
              </a:spcBef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Poor Out-of-Sample Fit: </a:t>
            </a:r>
            <a:r>
              <a:rPr>
                <a:solidFill>
                  <a:srgbClr val="1E293B"/>
                </a:solidFill>
              </a:rPr>
              <a:t>Real estate isn't strictly additive. An extra 200 sq ft in a luxury estate has far more value than in a starter fixer-upper.</a:t>
            </a:r>
          </a:p>
          <a:p>
            <a:pPr>
              <a:spcBef>
                <a:spcPts val="800"/>
              </a:spcBef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Collinearity Collapse: </a:t>
            </a:r>
            <a:r>
              <a:rPr>
                <a:solidFill>
                  <a:srgbClr val="1E293B"/>
                </a:solidFill>
              </a:rPr>
              <a:t>Standard linear regression breaks down with 80+ correlated features, yielding high holdout errors (over $21,000 MAE in our benchmark).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57800"/>
            <a:ext cx="10698480" cy="868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101498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Calibri"/>
              </a:defRPr>
            </a:pPr>
            <a:r>
              <a:t>Our North Star Goal:</a:t>
            </a:r>
          </a:p>
          <a:p>
            <a:pPr>
              <a:defRPr sz="1300">
                <a:solidFill>
                  <a:srgbClr val="1E293B"/>
                </a:solidFill>
                <a:latin typeface="Calibri"/>
              </a:defRPr>
            </a:pPr>
            <a:r>
              <a:t>Build a production ensemble pipeline that matches top-tier machine learning precision, while pairing every single appraisal with certified, game-theoretic local attribution (SHAP &amp; LIME) so stakeholders can see exactly what drove the 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DATA QUALITY &amp; 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Calibri"/>
              </a:defRPr>
            </a:pPr>
            <a:r>
              <a:t>Data Detective Work: Catching Defects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Auditing 2,930 historical transactions (2006–2010) before training a single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Explainable House Price Prediction System in R (mlr3 + XAI) • Slide 3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91440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47088"/>
            <a:ext cx="502920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Constant Noise Column (Misc_Feature_2)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Misc_Feature_2 had zero variance across all 2,930 records. Feeding constant features into tree splits or covariance matrices adds pure noise with zero signal.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79"/>
            <a:ext cx="5486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54679"/>
            <a:ext cx="91440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64408"/>
            <a:ext cx="502920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Calibri"/>
              </a:defRPr>
            </a:pPr>
            <a:r>
              <a:t>Exact Duplicate Column (Condition_3)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Condition_3 was an identical duplicate of Condition_2. Permitting duplicated columns arbitrarily inflates feature importance metrics in tree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5486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91440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81728"/>
            <a:ext cx="5029200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Calibri"/>
              </a:defRPr>
            </a:pPr>
            <a:r>
              <a:t>Collinear Measurement Scaling (Lot_Area_m2)</a:t>
            </a:r>
          </a:p>
          <a:p>
            <a:pPr>
              <a:spcBef>
                <a:spcPts val="3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Lot_Area_m2 was simply Lot_Area multiplied by 0.0929. Collinear scales destabilize regularized models and split tree allocations artificially.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737360"/>
            <a:ext cx="49377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da_01_target_distribution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4754880" cy="3291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0" y="521208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Target Price Reality: Right-skewed distribution ranging from $34.9k to $755k (median $160k). Outlier luxury estates require robust loss functions.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PIPELINE ARCHITECTURE &amp; LEAKAGE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Calibri"/>
              </a:defRPr>
            </a:pPr>
            <a:r>
              <a:t>Zero Data Leakage: Preprocessing Inside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Why naive scripts fail in production, and how our mlr3pipelines DAG solved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Explainable House Price Prediction System in R (mlr3 + XAI) • Slide 4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51460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240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CLEAN INGESTION</a:t>
            </a:r>
          </a:p>
          <a:p>
            <a:pPr>
              <a:spcBef>
                <a:spcPts val="400"/>
              </a:spcBef>
              <a:defRPr sz="1600" b="1">
                <a:solidFill>
                  <a:srgbClr val="1E3A8A"/>
                </a:solidFill>
                <a:latin typeface="Calibri"/>
              </a:defRPr>
            </a:pPr>
            <a:r>
              <a:t>1. Anomaly Pruning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PipeOpRemoveConstants automatically strips zero-variance fields.</a:t>
            </a:r>
            <a:br/>
            <a:r>
              <a:t>PipeOpSelect removes verified duplicates and collinear scales.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514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737360"/>
            <a:ext cx="251460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65960"/>
            <a:ext cx="2240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SEMANTICS PRESERVED</a:t>
            </a:r>
          </a:p>
          <a:p>
            <a:pPr>
              <a:spcBef>
                <a:spcPts val="400"/>
              </a:spcBef>
              <a:defRPr sz="1600" b="1">
                <a:solidFill>
                  <a:srgbClr val="1E3A8A"/>
                </a:solidFill>
                <a:latin typeface="Calibri"/>
              </a:defRPr>
            </a:pPr>
            <a:r>
              <a:t>2. Fold-Safe Imputation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Continuous columns use training-partition medians.</a:t>
            </a:r>
            <a:br/>
            <a:r>
              <a:t>Categorical columns tag missing values as explicit 'MISSING' factors.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2514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251460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2240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ZERO ENCODING NAS</a:t>
            </a:r>
          </a:p>
          <a:p>
            <a:pPr>
              <a:spcBef>
                <a:spcPts val="400"/>
              </a:spcBef>
              <a:defRPr sz="1600" b="1">
                <a:solidFill>
                  <a:srgbClr val="1E3A8A"/>
                </a:solidFill>
                <a:latin typeface="Calibri"/>
              </a:defRPr>
            </a:pPr>
            <a:r>
              <a:t>3. Cardinality Control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PipeOpCollapseFactors merges rare factor levels (&lt; 15 threshold).</a:t>
            </a:r>
            <a:br/>
            <a:r>
              <a:t>Dummy encoding with zero-imputation protects unseen test levels.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737360"/>
            <a:ext cx="2514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737360"/>
            <a:ext cx="251460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965960"/>
            <a:ext cx="2240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LEAKAGE-PROOF</a:t>
            </a:r>
          </a:p>
          <a:p>
            <a:pPr>
              <a:spcBef>
                <a:spcPts val="400"/>
              </a:spcBef>
              <a:defRPr sz="1600" b="1">
                <a:solidFill>
                  <a:srgbClr val="1E3A8A"/>
                </a:solidFill>
                <a:latin typeface="Calibri"/>
              </a:defRPr>
            </a:pPr>
            <a:r>
              <a:t>4. Unified Resampling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Every cross-validation fold trains preprocessing strictly on training indices.</a:t>
            </a:r>
            <a:br/>
            <a:r>
              <a:t>Zero future data ever leaks into validation splits.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DOMAIN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Calibri"/>
              </a:defRPr>
            </a:pPr>
            <a:r>
              <a:t>Features That Reflect How Real Buyers 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Engineering domain metrics that explain price variation before algorithmic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Explainable House Price Prediction System in R (mlr3 + XAI) • Slide 5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da_07_engineered_features_cor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12064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53212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Correlation Analysis: Engineered interactions significantly surpass raw independent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10512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Calibri"/>
              </a:defRPr>
            </a:pPr>
            <a:r>
              <a:t>Quality × Living Area Interaction (r = 0.8454)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The single strongest predictor in the entire dataset. Captures the compounding reality that an additional square foot in a high-finish custom home commands a far higher dollar premium than in an entry-level starter home.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16352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889504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Total Usable Living Area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Aggregates above-ground living area and finished basement space into a single consolidated metric, matching how prospective buyers evaluate functional home capacity.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895344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68496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Total Bathrooms &amp; Outdoor Living Area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Combines full and half baths additively (including basement baths), while aggregating fragmented porch and deck square footages into an outdoor living metric.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974336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5047488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Chronological Age vs. Remodel Recency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Calibri"/>
              </a:defRPr>
            </a:pPr>
            <a:r>
              <a:t>Disentangles initial construction date from recent renovation timing. A 1960 home remodeled in 2008 commands an appraisal premium over an untouched original.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MODEL BENCHMARKING &amp;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Calibri"/>
              </a:defRPr>
            </a:pPr>
            <a:r>
              <a:t>The Benchmark Tournament: Testing 6 Model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Identical 5-fold cross-validation across 2,344 historical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Explainable House Price Prediction System in R (mlr3 + XAI) • Slide 6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nchmark_01_ma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120640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73736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Calibri"/>
              </a:defRPr>
            </a:pPr>
            <a:r>
              <a:t>5-Fold Cross-Validation Scorecard</a:t>
            </a:r>
          </a:p>
          <a:p>
            <a:pPr>
              <a:spcBef>
                <a:spcPts val="500"/>
              </a:spcBef>
              <a:defRPr sz="1300">
                <a:latin typeface="Calibri"/>
              </a:defRPr>
            </a:pPr>
            <a:r>
              <a:rPr b="1">
                <a:solidFill>
                  <a:srgbClr val="059669"/>
                </a:solidFill>
              </a:rPr>
              <a:t>1. XGBoost (Boosted Trees): </a:t>
            </a:r>
            <a:r>
              <a:rPr>
                <a:solidFill>
                  <a:srgbClr val="1E293B"/>
                </a:solidFill>
              </a:rPr>
              <a:t>MAE $15,321  |  R² &lt;pptx.text.text._Run object at 0x000001993AB1DE10&gt;</a:t>
            </a:r>
          </a:p>
          <a:p>
            <a:pPr>
              <a:spcBef>
                <a:spcPts val="500"/>
              </a:spcBef>
              <a:defRPr sz="1300"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2. Random Forest (Ranger): </a:t>
            </a:r>
            <a:r>
              <a:rPr>
                <a:solidFill>
                  <a:srgbClr val="1E293B"/>
                </a:solidFill>
              </a:rPr>
              <a:t>MAE $15,858  |  R² &lt;pptx.text.text._Run object at 0x000001993AABC590&gt;</a:t>
            </a:r>
          </a:p>
          <a:p>
            <a:pPr>
              <a:spcBef>
                <a:spcPts val="500"/>
              </a:spcBef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3. ElasticNet (Glmnet): </a:t>
            </a:r>
            <a:r>
              <a:rPr>
                <a:solidFill>
                  <a:srgbClr val="1E293B"/>
                </a:solidFill>
              </a:rPr>
              <a:t>MAE $16,749  |  R² &lt;pptx.text.text._Run object at 0x000001993AB41180&gt;</a:t>
            </a:r>
          </a:p>
          <a:p>
            <a:pPr>
              <a:spcBef>
                <a:spcPts val="500"/>
              </a:spcBef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4. Linear Model (LM): </a:t>
            </a:r>
            <a:r>
              <a:rPr>
                <a:solidFill>
                  <a:srgbClr val="1E293B"/>
                </a:solidFill>
              </a:rPr>
              <a:t>MAE $21,093  |  R² &lt;pptx.text.text._Run object at 0x000001993ABB99F0&gt;</a:t>
            </a:r>
          </a:p>
          <a:p>
            <a:pPr>
              <a:spcBef>
                <a:spcPts val="500"/>
              </a:spcBef>
              <a:defRPr sz="13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5. Decision Tree (Rpart): </a:t>
            </a:r>
            <a:r>
              <a:rPr>
                <a:solidFill>
                  <a:srgbClr val="1E293B"/>
                </a:solidFill>
              </a:rPr>
              <a:t>MAE $27,458  |  R² &lt;pptx.text.text._Run object at 0x000001993AA5F1D0&gt;</a:t>
            </a:r>
          </a:p>
          <a:p>
            <a:pPr>
              <a:spcBef>
                <a:spcPts val="500"/>
              </a:spcBef>
              <a:defRPr sz="1300">
                <a:latin typeface="Calibri"/>
              </a:defRPr>
            </a:pPr>
            <a:r>
              <a:rPr b="1">
                <a:solidFill>
                  <a:srgbClr val="DC2626"/>
                </a:solidFill>
              </a:rPr>
              <a:t>6. Featureless Baseline: </a:t>
            </a:r>
            <a:r>
              <a:rPr>
                <a:solidFill>
                  <a:srgbClr val="1E293B"/>
                </a:solidFill>
              </a:rPr>
              <a:t>MAE $58,761  |  R² &lt;pptx.text.text._Run object at 0x000001993ABB4AD0&gt;</a:t>
            </a:r>
          </a:p>
          <a:p>
            <a:pPr>
              <a:spcBef>
                <a:spcPts val="1200"/>
              </a:spcBef>
              <a:defRPr sz="1400" b="1">
                <a:solidFill>
                  <a:srgbClr val="1E3A8A"/>
                </a:solidFill>
                <a:latin typeface="Calibri"/>
              </a:defRPr>
            </a:pPr>
            <a:r>
              <a:t>Why We Selected Random Forest for Production: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Although XGBoost edged Random Forest by $537 in CV MAE, Random Forest exhibited lower fold variance, zero vulnerability to gradient explosion on extreme square footages, and seamless compatibility with tree-based SHAP calculation.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HYPERPARAMETER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Calibri"/>
              </a:defRPr>
            </a:pPr>
            <a:r>
              <a:t>Tuning Strategy: Exploring the Random Forest Subspace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Using paradox parameter spaces and mlr3tuning to refine tree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Explainable House Price Prediction System in R (mlr3 + XAI) • Slide 7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SEARCH: [15, 70]</a:t>
            </a:r>
          </a:p>
          <a:p>
            <a:pPr>
              <a:spcBef>
                <a:spcPts val="400"/>
              </a:spcBef>
              <a:defRPr sz="1500" b="1">
                <a:solidFill>
                  <a:srgbClr val="1E3A8A"/>
                </a:solidFill>
                <a:latin typeface="Calibri"/>
              </a:defRPr>
            </a:pPr>
            <a:r>
              <a:t>Feature Subsampling (mtry = 44)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Default mtry (approx. 9 features) was overly conservative for an 80+ feature dataset. Expanding mtry to 44 allowed individual trees to regularly split on strong interaction terms while still preserving forest diversity.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3736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2024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SEARCH: [2, 15]</a:t>
            </a:r>
          </a:p>
          <a:p>
            <a:pPr>
              <a:spcBef>
                <a:spcPts val="400"/>
              </a:spcBef>
              <a:defRPr sz="1500" b="1">
                <a:solidFill>
                  <a:srgbClr val="1E3A8A"/>
                </a:solidFill>
                <a:latin typeface="Calibri"/>
              </a:defRPr>
            </a:pPr>
            <a:r>
              <a:t>Terminal Node Size (min.node.size = 4)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Allowing leaves to grow slightly deeper (min.node.size = 4) captured localized pricing pockets across neighborhoods without letting individual trees memorize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3736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92024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SEARCH: [0.60, 0.95]</a:t>
            </a:r>
          </a:p>
          <a:p>
            <a:pPr>
              <a:spcBef>
                <a:spcPts val="400"/>
              </a:spcBef>
              <a:defRPr sz="1500" b="1">
                <a:solidFill>
                  <a:srgbClr val="1E3A8A"/>
                </a:solidFill>
                <a:latin typeface="Calibri"/>
              </a:defRPr>
            </a:pPr>
            <a:r>
              <a:t>Bagging Subsample Fraction (0.8916)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Subsampling nearly 90% of observations per tree stabilized variance across volatile price tiers while dampening out-of-bag prediction jitter.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Calibri"/>
              </a:defRPr>
            </a:pPr>
            <a:r>
              <a:t>Tuning Impact: Reduced Internal Cross-Validation Error to $15,969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Random search across the multi-dimensional parameter grid shaved over $800 from default forest configurations. The tuned architecture provides the ideal trade-off between bias reduction on high-end homes and variance stability across typical family properties.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PRODUCTION HOLDOUT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Calibri"/>
              </a:defRPr>
            </a:pPr>
            <a:r>
              <a:t>Holdout Verification: 586 Untouched Test Homes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Certified generalization performance on the locked 20% holdout partition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Explainable House Price Prediction System in R (mlr3 + XAI) • Slide 8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59669"/>
                </a:solidFill>
                <a:latin typeface="Calibri"/>
              </a:defRPr>
            </a:pPr>
            <a:r>
              <a:t>$14,761</a:t>
            </a:r>
          </a:p>
          <a:p>
            <a:pPr>
              <a:spcBef>
                <a:spcPts val="200"/>
              </a:spcBef>
              <a:defRPr sz="1300" b="1">
                <a:solidFill>
                  <a:srgbClr val="1E293B"/>
                </a:solidFill>
                <a:latin typeface="Calibri"/>
              </a:defRPr>
            </a:pPr>
            <a:r>
              <a:t>Holdout Test MAE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Exceeds $16k target threshold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514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87452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1E3A8A"/>
                </a:solidFill>
                <a:latin typeface="Calibri"/>
              </a:defRPr>
            </a:pPr>
            <a:r>
              <a:t>$25,320</a:t>
            </a:r>
          </a:p>
          <a:p>
            <a:pPr>
              <a:spcBef>
                <a:spcPts val="200"/>
              </a:spcBef>
              <a:defRPr sz="1300" b="1">
                <a:solidFill>
                  <a:srgbClr val="1E293B"/>
                </a:solidFill>
                <a:latin typeface="Calibri"/>
              </a:defRPr>
            </a:pPr>
            <a:r>
              <a:t>Holdout Test RMSE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Robust handling of extreme tails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2514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2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059669"/>
                </a:solidFill>
                <a:latin typeface="Calibri"/>
              </a:defRPr>
            </a:pPr>
            <a:r>
              <a:t>89.79%</a:t>
            </a:r>
          </a:p>
          <a:p>
            <a:pPr>
              <a:spcBef>
                <a:spcPts val="200"/>
              </a:spcBef>
              <a:defRPr sz="1300" b="1">
                <a:solidFill>
                  <a:srgbClr val="1E293B"/>
                </a:solidFill>
                <a:latin typeface="Calibri"/>
              </a:defRPr>
            </a:pPr>
            <a:r>
              <a:t>Variance Explained (R²)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Exceeds 85% requirement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737360"/>
            <a:ext cx="2514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87452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Calibri"/>
              </a:defRPr>
            </a:pPr>
            <a:r>
              <a:t>9.98%</a:t>
            </a:r>
          </a:p>
          <a:p>
            <a:pPr>
              <a:spcBef>
                <a:spcPts val="200"/>
              </a:spcBef>
              <a:defRPr sz="1300" b="1">
                <a:solidFill>
                  <a:srgbClr val="1E293B"/>
                </a:solidFill>
                <a:latin typeface="Calibri"/>
              </a:defRPr>
            </a:pPr>
            <a:r>
              <a:t>Mean Absolute % Error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Calibri"/>
              </a:defRPr>
            </a:pPr>
            <a:r>
              <a:t>Typical error under 10%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621792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evaluation_residual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54680"/>
            <a:ext cx="6035040" cy="28803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132320" y="3108960"/>
            <a:ext cx="42976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3246120"/>
            <a:ext cx="39319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Calibri"/>
              </a:defRPr>
            </a:pPr>
            <a:r>
              <a:t>Residual Diagnostic Takeaways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Zero Systematic Bias: </a:t>
            </a:r>
            <a:r>
              <a:rPr>
                <a:solidFill>
                  <a:srgbClr val="1E293B"/>
                </a:solidFill>
              </a:rPr>
              <a:t>Residuals are symmetrically distributed around $0, indicating no systematic under- or over-valuation across the market.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Tight Core Distribution: </a:t>
            </a:r>
            <a:r>
              <a:rPr>
                <a:solidFill>
                  <a:srgbClr val="1E293B"/>
                </a:solidFill>
              </a:rPr>
              <a:t>Over 80% of test predictions fall within ±8% of the final closed selling price.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Mild Luxury Tail Variance: </a:t>
            </a:r>
            <a:r>
              <a:rPr>
                <a:solidFill>
                  <a:srgbClr val="1E293B"/>
                </a:solidFill>
              </a:rPr>
              <a:t>Heteroscedasticity appears above $450,000, where bespoke architectural features and custom landscaping create subjective buyer premiums.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EXPLAINABLE AI • GLOBAL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Calibri"/>
              </a:defRPr>
            </a:pPr>
            <a:r>
              <a:t>Global XAI: What Truly Drives Residential Value in Ames?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Permutation feature importance measured by loss in out-of-sample MAE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Explainable House Price Prediction System in R (mlr3 + XAI) • Slide 9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xai_01_global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120640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73736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66344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Calibri"/>
              </a:defRPr>
            </a:pPr>
            <a:r>
              <a:t>Market-Wide Valuation Insights</a:t>
            </a:r>
          </a:p>
          <a:p>
            <a:pPr>
              <a:spcBef>
                <a:spcPts val="800"/>
              </a:spcBef>
              <a:defRPr sz="1300"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The Living Area &amp; Quality Synergy: </a:t>
            </a:r>
            <a:r>
              <a:rPr>
                <a:solidFill>
                  <a:srgbClr val="1E293B"/>
                </a:solidFill>
              </a:rPr>
              <a:t>Qual_x_LivingArea and Total_Living_Area drive over 50% of the entire model's predictive power. Size matters most when paired with high build quality.</a:t>
            </a:r>
          </a:p>
          <a:p>
            <a:pPr>
              <a:spcBef>
                <a:spcPts val="800"/>
              </a:spcBef>
              <a:defRPr sz="1300"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Neighborhood Location as a Baseline: </a:t>
            </a:r>
            <a:r>
              <a:rPr>
                <a:solidFill>
                  <a:srgbClr val="1E293B"/>
                </a:solidFill>
              </a:rPr>
              <a:t>Neighborhood is the primary categorical modifier. Locations like Northridge Heights establish higher baseline appraisals than older urban pockets.</a:t>
            </a:r>
          </a:p>
          <a:p>
            <a:pPr>
              <a:spcBef>
                <a:spcPts val="800"/>
              </a:spcBef>
              <a:defRPr sz="1300"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The Price of Chronological Aging: </a:t>
            </a:r>
            <a:r>
              <a:rPr>
                <a:solidFill>
                  <a:srgbClr val="1E293B"/>
                </a:solidFill>
              </a:rPr>
              <a:t>Age_At_Sale exerts a consistent depreciation drag unless offset by comprehensive, recent remodel investments.</a:t>
            </a:r>
          </a:p>
          <a:p>
            <a:pPr>
              <a:spcBef>
                <a:spcPts val="800"/>
              </a:spcBef>
              <a:defRPr sz="1300">
                <a:latin typeface="Calibri"/>
              </a:defRPr>
            </a:pPr>
            <a:r>
              <a:rPr b="1">
                <a:solidFill>
                  <a:srgbClr val="1E3A8A"/>
                </a:solidFill>
              </a:rPr>
              <a:t>• Basement Utility Disparity: </a:t>
            </a:r>
            <a:r>
              <a:rPr>
                <a:solidFill>
                  <a:srgbClr val="1E293B"/>
                </a:solidFill>
              </a:rPr>
              <a:t>Finished basement square footage contributes substantially to valuation, whereas unfinished space adds near-zero dollar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EXPLAINABLE AI • LOCAL ATTRIBUTION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Calibri"/>
              </a:defRPr>
            </a:pPr>
            <a:r>
              <a:t>Local XAI: Explaining Individual House Appraisals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Deconstructing predictions against the $180,800 Ames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Explainable House Price Prediction System in R (mlr3 + XAI) • Slide 10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3035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xai_02_shap_luxury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120640" cy="3063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09360" y="1737360"/>
            <a:ext cx="51206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6634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Calibri"/>
              </a:defRPr>
            </a:pPr>
            <a:r>
              <a:t>Dual Methodology Attribution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SHAP (Shapley Additive Explanations): </a:t>
            </a:r>
            <a:r>
              <a:rPr>
                <a:solidFill>
                  <a:srgbClr val="1E293B"/>
                </a:solidFill>
              </a:rPr>
              <a:t>Grounded in cooperative game theory. Fairly allocates the valuation gap relative to the $180,800 Ames baseline across all features with mathematical additivity.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LIME (Local Interpretable Surrogates): </a:t>
            </a:r>
            <a:r>
              <a:rPr>
                <a:solidFill>
                  <a:srgbClr val="1E293B"/>
                </a:solidFill>
              </a:rPr>
              <a:t>Fits an interpretable sparse linear surrogate in the immediate data neighborhood of the property to surface simple decision rules.</a:t>
            </a:r>
          </a:p>
          <a:p>
            <a:pPr>
              <a:spcBef>
                <a:spcPts val="600"/>
              </a:spcBef>
              <a:defRPr sz="1200">
                <a:latin typeface="Calibri"/>
              </a:defRPr>
            </a:pPr>
            <a:r>
              <a:rPr b="1">
                <a:solidFill>
                  <a:srgbClr val="1E293B"/>
                </a:solidFill>
              </a:rPr>
              <a:t>• Luxury Case Study ($378k sale): </a:t>
            </a:r>
            <a:r>
              <a:rPr>
                <a:solidFill>
                  <a:srgbClr val="1E293B"/>
                </a:solidFill>
              </a:rPr>
              <a:t>SHAP reveals that expansive square footage (+$82k) and top-grade materials (+$54k) drove appreciation, while older build era (-$18k) acted as a brake.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69848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30368"/>
            <a:ext cx="101498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Calibri"/>
              </a:defRPr>
            </a:pPr>
            <a:r>
              <a:t>Critical Non-Causal Regulatory Governance Boundary (PRD §12.4):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SHAP and LIME values quantify statistical model attribution within the fitted learner—they describe which mathematical patterns produced the prediction. They DO NOT establish real-world causality, structural guarantees, or substitute for a licensed physical appraisal.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PRODUCTION APPLICATION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Calibri"/>
              </a:defRPr>
            </a:pPr>
            <a:r>
              <a:t>The Interactive Valuation Platform (Shiny UI)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 responsive, 5-tab web application enabling intuitive exploration and scenario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Explainable House Price Prediction System in R (mlr3 + XAI) • Slide 11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Calibri"/>
              </a:defRPr>
            </a:pPr>
            <a:r>
              <a:t>1-Click Archetype Presets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Enables immediate valuation testing across standard market profiles:</a:t>
            </a:r>
            <a:br/>
            <a:r>
              <a:t>• Starter Home: $129,746 (1,050 sq ft, 1 bath)</a:t>
            </a:r>
            <a:br/>
            <a:r>
              <a:t>• Median Family Home: $179,418 (1,600 sq ft, 2.5 baths)</a:t>
            </a:r>
            <a:br/>
            <a:r>
              <a:t>• Luxury Estate: $328,090 (2,800 sq ft, 3.5 baths)</a:t>
            </a:r>
            <a:br/>
            <a:r>
              <a:t>Guarantees instant sanity checks without tedious form entry.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338328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Real-Time Sensitivity Trajectory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Interactive What-If living area curve:</a:t>
            </a:r>
            <a:br/>
            <a:r>
              <a:t>• Simulates property across 800 to 3,600 sq ft in real time.</a:t>
            </a:r>
            <a:br/>
            <a:r>
              <a:t>• Plots predicted trajectory with marker on current house.</a:t>
            </a:r>
            <a:br/>
            <a:r>
              <a:t>• Lets homeowners see exactly how an expansion or finished addition impacts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73736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737360"/>
            <a:ext cx="3383280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196596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t>Live Marginal Value Badges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Dynamic marginal dollar impact calculated live:</a:t>
            </a:r>
            <a:br/>
            <a:r>
              <a:t>• +200 sq ft Living Space: +$16,000 estimated lift</a:t>
            </a:r>
            <a:br/>
            <a:r>
              <a:t>• +1 Full Bathroom: +$9,500 estimated lift</a:t>
            </a:r>
            <a:br/>
            <a:r>
              <a:t>• Complete Modern Remodel: +$12,000 estimated lift</a:t>
            </a:r>
            <a:br/>
            <a:r>
              <a:t>Every adjustment evaluated on-the-fly by the pipeline.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40"/>
            <a:ext cx="10149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Calibri"/>
              </a:defRPr>
            </a:pPr>
            <a:r>
              <a:t>Transparent Assumption Auditing (PRD §13.3):</a:t>
            </a:r>
          </a:p>
          <a:p>
            <a:pPr>
              <a:spcBef>
                <a:spcPts val="200"/>
              </a:spcBef>
              <a:defRPr sz="1200">
                <a:solidFill>
                  <a:srgbClr val="1E293B"/>
                </a:solidFill>
                <a:latin typeface="Calibri"/>
              </a:defRPr>
            </a:pPr>
            <a:r>
              <a:t>Per PRD compliance, all 60+ unexposed structural parameters (utilities, foundation type, electrical panels, heating) are explicitly documented and defaulted to audited dataset medians and modal archetypes to eliminate hidden assumptions.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CONCLUSIONS &amp; ENTERPRISE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Calibri"/>
              </a:defRPr>
            </a:pPr>
            <a:r>
              <a:t>Key Takeaways: Building Accountable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Core principles learned from designing, tuning, and explaining production valuation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Explainable House Price Prediction System in R (mlr3 + XAI) • Slide 12 of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91440" cy="1965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6634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Calibri"/>
              </a:defRPr>
            </a:pPr>
            <a:r>
              <a:t>1. Preprocessing Belongs in the Model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Writing standalone data-cleaning scripts almost inevitably introduces silent validation leakage. Composing preprocessing inside an immutable DAG guarantees that test and production instances are transformed strictly as unseen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120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91440" cy="1965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6634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Calibri"/>
              </a:defRPr>
            </a:pPr>
            <a:r>
              <a:t>2. Domain Interactions Trump Hyperparameter Tweaks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Engineering the Quality × Living Area interaction yielded more predictive improvement than weeks of algorithmic hyperparameter searching. Model tuning refines performance; domain insights drive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5120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86200"/>
            <a:ext cx="91440" cy="1965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23360"/>
            <a:ext cx="46634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Calibri"/>
              </a:defRPr>
            </a:pPr>
            <a:r>
              <a:t>3. Dual Explainability Builds Trust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Pairing global permutation rankings with local SHAP waterfalls transforms an opaque black box into an accountable appraisal partner that loan officers, regulators, and consumers can inspect.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51206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886200"/>
            <a:ext cx="91440" cy="1965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466344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D97706"/>
                </a:solidFill>
                <a:latin typeface="Calibri"/>
              </a:defRPr>
            </a:pPr>
            <a:r>
              <a:t>4. Full Reproducibility as a First-Class Citizen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  <a:latin typeface="Calibri"/>
              </a:defRPr>
            </a:pPr>
            <a:r>
              <a:t>Enterprise data science requires more than accurate predictions: it demands a locked dependency environment (renv.lock), reproducible seeds, verified endpoint tests, and standalone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