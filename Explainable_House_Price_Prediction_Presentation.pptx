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1463040"/>
            <a:ext cx="109728" cy="3931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4114800"/>
          </a:xfrm>
          <a:prstGeom prst="rect">
            <a:avLst/>
          </a:prstGeom>
          <a:noFill/>
        </p:spPr>
        <p:txBody>
          <a:bodyPr wrap="square" lIns="0" tIns="0" rIns="0" bIns="0">
            <a:spAutoFit/>
          </a:bodyPr>
          <a:lstStyle/>
          <a:p>
            <a:pPr>
              <a:defRPr sz="1300" b="1">
                <a:solidFill>
                  <a:srgbClr val="2563EB"/>
                </a:solidFill>
                <a:latin typeface="Calibri"/>
              </a:defRPr>
            </a:pPr>
            <a:r>
              <a:t>APPLIED MACHINE LEARNING &amp; EXPLAINABLE AI CASE STUDY</a:t>
            </a:r>
          </a:p>
          <a:p>
            <a:pPr>
              <a:spcBef>
                <a:spcPts val="800"/>
              </a:spcBef>
              <a:defRPr sz="3800" b="1">
                <a:solidFill>
                  <a:srgbClr val="FFFFFF"/>
                </a:solidFill>
                <a:latin typeface="Calibri"/>
              </a:defRPr>
            </a:pPr>
            <a:r>
              <a:t>Transparent House Price Prediction</a:t>
            </a:r>
          </a:p>
          <a:p>
            <a:pPr>
              <a:spcBef>
                <a:spcPts val="800"/>
              </a:spcBef>
              <a:defRPr sz="1800">
                <a:solidFill>
                  <a:srgbClr val="BFDBFE"/>
                </a:solidFill>
                <a:latin typeface="Calibri"/>
              </a:defRPr>
            </a:pPr>
            <a:r>
              <a:t>Predicting Residential Valuations in Ames, Iowa with Complete Explainability</a:t>
            </a:r>
          </a:p>
          <a:p>
            <a:pPr>
              <a:spcBef>
                <a:spcPts val="1600"/>
              </a:spcBef>
              <a:defRPr sz="1400">
                <a:solidFill>
                  <a:srgbClr val="94A3B8"/>
                </a:solidFill>
                <a:latin typeface="Calibri"/>
              </a:defRPr>
            </a:pPr>
            <a:r>
              <a:t>A practical, leakage-free machine learning project built in R. We show how to clean messy real estate data, benchmark 6 algorithms, pick the best model (Random Forest), and explain every single price quote in plain English using SHAP &amp; LIME.</a:t>
            </a:r>
          </a:p>
        </p:txBody>
      </p:sp>
      <p:sp>
        <p:nvSpPr>
          <p:cNvPr id="4" name="TextBox 3"/>
          <p:cNvSpPr txBox="1"/>
          <p:nvPr/>
        </p:nvSpPr>
        <p:spPr>
          <a:xfrm>
            <a:off x="1097280" y="5303520"/>
            <a:ext cx="10058400" cy="548640"/>
          </a:xfrm>
          <a:prstGeom prst="rect">
            <a:avLst/>
          </a:prstGeom>
          <a:noFill/>
        </p:spPr>
        <p:txBody>
          <a:bodyPr wrap="none" lIns="0" tIns="0" rIns="0" bIns="0">
            <a:spAutoFit/>
          </a:bodyPr>
          <a:lstStyle/>
          <a:p>
            <a:pPr>
              <a:defRPr sz="1300" b="1">
                <a:solidFill>
                  <a:srgbClr val="059669"/>
                </a:solidFill>
                <a:latin typeface="Calibri"/>
              </a:defRPr>
            </a:pPr>
            <a:r>
              <a:t>2,930 Real Homes  •  Leakage-Free R Pipelines  •  89.8% Accuracy  •  Interactive Web Calculator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1. CASE STUDY OVERVIEW</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The Core Problem: Why We Need Explainable Predictions</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Why traditional valuation methods fail homeowners and loan officers in real life</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2 of 13</a:t>
            </a:r>
          </a:p>
        </p:txBody>
      </p:sp>
      <p:sp>
        <p:nvSpPr>
          <p:cNvPr id="6" name="Rounded Rectangle 5"/>
          <p:cNvSpPr/>
          <p:nvPr/>
        </p:nvSpPr>
        <p:spPr>
          <a:xfrm>
            <a:off x="731520" y="1737360"/>
            <a:ext cx="51206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5120640" cy="91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11680"/>
            <a:ext cx="4572000" cy="2834640"/>
          </a:xfrm>
          <a:prstGeom prst="rect">
            <a:avLst/>
          </a:prstGeom>
          <a:noFill/>
        </p:spPr>
        <p:txBody>
          <a:bodyPr wrap="square" lIns="0" tIns="0" rIns="0" bIns="0">
            <a:spAutoFit/>
          </a:bodyPr>
          <a:lstStyle/>
          <a:p>
            <a:pPr>
              <a:defRPr sz="1700" b="1">
                <a:solidFill>
                  <a:srgbClr val="DC2626"/>
                </a:solidFill>
                <a:latin typeface="Calibri"/>
              </a:defRPr>
            </a:pPr>
            <a:r>
              <a:t>Problem 1: Black-Box AI (Too Opaque)</a:t>
            </a:r>
          </a:p>
          <a:p>
            <a:pPr>
              <a:spcBef>
                <a:spcPts val="800"/>
              </a:spcBef>
              <a:defRPr sz="1300">
                <a:latin typeface="Calibri"/>
              </a:defRPr>
            </a:pPr>
            <a:r>
              <a:rPr b="1">
                <a:solidFill>
                  <a:srgbClr val="1E293B"/>
                </a:solidFill>
              </a:rPr>
              <a:t>• Accurate but Silent: </a:t>
            </a:r>
            <a:r>
              <a:rPr>
                <a:solidFill>
                  <a:srgbClr val="1E293B"/>
                </a:solidFill>
              </a:rPr>
              <a:t>Advanced algorithms can guess prices well, but they act like a black box—they give you a number without giving you a reason.</a:t>
            </a:r>
          </a:p>
          <a:p>
            <a:pPr>
              <a:spcBef>
                <a:spcPts val="800"/>
              </a:spcBef>
              <a:defRPr sz="1300">
                <a:latin typeface="Calibri"/>
              </a:defRPr>
            </a:pPr>
            <a:r>
              <a:rPr b="1">
                <a:solidFill>
                  <a:srgbClr val="1E293B"/>
                </a:solidFill>
              </a:rPr>
              <a:t>• The $40,000 Mystery: </a:t>
            </a:r>
            <a:r>
              <a:rPr>
                <a:solidFill>
                  <a:srgbClr val="1E293B"/>
                </a:solidFill>
              </a:rPr>
              <a:t>If a buyer's appraisal comes in $40,000 below expectations, telling them 'the computer calculated it' is unacceptable.</a:t>
            </a:r>
          </a:p>
          <a:p>
            <a:pPr>
              <a:spcBef>
                <a:spcPts val="800"/>
              </a:spcBef>
              <a:defRPr sz="1300">
                <a:latin typeface="Calibri"/>
              </a:defRPr>
            </a:pPr>
            <a:r>
              <a:rPr b="1">
                <a:solidFill>
                  <a:srgbClr val="1E293B"/>
                </a:solidFill>
              </a:rPr>
              <a:t>• Lending Regulations: </a:t>
            </a:r>
            <a:r>
              <a:rPr>
                <a:solidFill>
                  <a:srgbClr val="1E293B"/>
                </a:solidFill>
              </a:rPr>
              <a:t>Banks must legally explain why loans are approved or denied. Unexplained AI decisions violate fair lending laws.</a:t>
            </a:r>
          </a:p>
        </p:txBody>
      </p:sp>
      <p:sp>
        <p:nvSpPr>
          <p:cNvPr id="9" name="Rounded Rectangle 8"/>
          <p:cNvSpPr/>
          <p:nvPr/>
        </p:nvSpPr>
        <p:spPr>
          <a:xfrm>
            <a:off x="6217920" y="1737360"/>
            <a:ext cx="521208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737360"/>
            <a:ext cx="521208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011680"/>
            <a:ext cx="4663440" cy="2834640"/>
          </a:xfrm>
          <a:prstGeom prst="rect">
            <a:avLst/>
          </a:prstGeom>
          <a:noFill/>
        </p:spPr>
        <p:txBody>
          <a:bodyPr wrap="square" lIns="0" tIns="0" rIns="0" bIns="0">
            <a:spAutoFit/>
          </a:bodyPr>
          <a:lstStyle/>
          <a:p>
            <a:pPr>
              <a:defRPr sz="1700" b="1">
                <a:solidFill>
                  <a:srgbClr val="2563EB"/>
                </a:solidFill>
                <a:latin typeface="Calibri"/>
              </a:defRPr>
            </a:pPr>
            <a:r>
              <a:t>Problem 2: Simple Formulas (Too Inaccurate)</a:t>
            </a:r>
          </a:p>
          <a:p>
            <a:pPr>
              <a:spcBef>
                <a:spcPts val="800"/>
              </a:spcBef>
              <a:defRPr sz="1300">
                <a:latin typeface="Calibri"/>
              </a:defRPr>
            </a:pPr>
            <a:r>
              <a:rPr b="1">
                <a:solidFill>
                  <a:srgbClr val="1E293B"/>
                </a:solidFill>
              </a:rPr>
              <a:t>• Easy to Read: </a:t>
            </a:r>
            <a:r>
              <a:rPr>
                <a:solidFill>
                  <a:srgbClr val="1E293B"/>
                </a:solidFill>
              </a:rPr>
              <a:t>Basic linear formulas are simple: every square foot adds a fixed dollar amount.</a:t>
            </a:r>
          </a:p>
          <a:p>
            <a:pPr>
              <a:spcBef>
                <a:spcPts val="800"/>
              </a:spcBef>
              <a:defRPr sz="1300">
                <a:latin typeface="Calibri"/>
              </a:defRPr>
            </a:pPr>
            <a:r>
              <a:rPr b="1">
                <a:solidFill>
                  <a:srgbClr val="1E293B"/>
                </a:solidFill>
              </a:rPr>
              <a:t>• Real Estate Isn't Simple: </a:t>
            </a:r>
            <a:r>
              <a:rPr>
                <a:solidFill>
                  <a:srgbClr val="1E293B"/>
                </a:solidFill>
              </a:rPr>
              <a:t>In real life, 200 sq ft on a luxury custom mansion adds way more cash than 200 sq ft on an old fixer-upper.</a:t>
            </a:r>
          </a:p>
          <a:p>
            <a:pPr>
              <a:spcBef>
                <a:spcPts val="800"/>
              </a:spcBef>
              <a:defRPr sz="1300">
                <a:latin typeface="Calibri"/>
              </a:defRPr>
            </a:pPr>
            <a:r>
              <a:rPr b="1">
                <a:solidFill>
                  <a:srgbClr val="1E293B"/>
                </a:solidFill>
              </a:rPr>
              <a:t>• High Average Errors: </a:t>
            </a:r>
            <a:r>
              <a:rPr>
                <a:solidFill>
                  <a:srgbClr val="1E293B"/>
                </a:solidFill>
              </a:rPr>
              <a:t>Basic linear formulas made an average error of over $21,000 on our data because they cannot see complex combinations.</a:t>
            </a:r>
          </a:p>
        </p:txBody>
      </p:sp>
      <p:sp>
        <p:nvSpPr>
          <p:cNvPr id="12" name="Rounded Rectangle 11"/>
          <p:cNvSpPr/>
          <p:nvPr/>
        </p:nvSpPr>
        <p:spPr>
          <a:xfrm>
            <a:off x="731520" y="5257800"/>
            <a:ext cx="10698480" cy="86868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10149840" cy="685800"/>
          </a:xfrm>
          <a:prstGeom prst="rect">
            <a:avLst/>
          </a:prstGeom>
          <a:noFill/>
        </p:spPr>
        <p:txBody>
          <a:bodyPr wrap="square" lIns="0" tIns="0" rIns="0" bIns="0">
            <a:spAutoFit/>
          </a:bodyPr>
          <a:lstStyle/>
          <a:p>
            <a:pPr>
              <a:defRPr sz="1400" b="1">
                <a:solidFill>
                  <a:srgbClr val="059669"/>
                </a:solidFill>
                <a:latin typeface="Calibri"/>
              </a:defRPr>
            </a:pPr>
            <a:r>
              <a:t>Our Goal in Plain English:</a:t>
            </a:r>
          </a:p>
          <a:p>
            <a:pPr>
              <a:defRPr sz="1300">
                <a:solidFill>
                  <a:srgbClr val="1E293B"/>
                </a:solidFill>
                <a:latin typeface="Calibri"/>
              </a:defRPr>
            </a:pPr>
            <a:r>
              <a:t>Build a model that achieves top-level accuracy (under $15k average error), while printing a clear, itemized receipt for every single property so any human can understand why it is priced that 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2. DATASET DESCRIPTION</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The Ames Housing Data: 2,930 Real Homes</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What information we had, and why it was ideal for testing our prediction system</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3 of 13</a:t>
            </a:r>
          </a:p>
        </p:txBody>
      </p:sp>
      <p:sp>
        <p:nvSpPr>
          <p:cNvPr id="6" name="Rounded Rectangle 5"/>
          <p:cNvSpPr/>
          <p:nvPr/>
        </p:nvSpPr>
        <p:spPr>
          <a:xfrm>
            <a:off x="731520" y="1737360"/>
            <a:ext cx="530352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20"/>
            <a:ext cx="4937760" cy="822960"/>
          </a:xfrm>
          <a:prstGeom prst="rect">
            <a:avLst/>
          </a:prstGeom>
          <a:noFill/>
        </p:spPr>
        <p:txBody>
          <a:bodyPr wrap="square" lIns="0" tIns="0" rIns="0" bIns="0">
            <a:spAutoFit/>
          </a:bodyPr>
          <a:lstStyle/>
          <a:p>
            <a:pPr>
              <a:defRPr sz="3200" b="1">
                <a:solidFill>
                  <a:srgbClr val="1E3A8A"/>
                </a:solidFill>
                <a:latin typeface="Calibri"/>
              </a:defRPr>
            </a:pPr>
            <a:r>
              <a:t>2,930 Homes</a:t>
            </a:r>
          </a:p>
          <a:p>
            <a:pPr>
              <a:spcBef>
                <a:spcPts val="200"/>
              </a:spcBef>
              <a:defRPr sz="1300" b="1">
                <a:solidFill>
                  <a:srgbClr val="1E293B"/>
                </a:solidFill>
                <a:latin typeface="Calibri"/>
              </a:defRPr>
            </a:pPr>
            <a:r>
              <a:t>Total Sales Recorded</a:t>
            </a:r>
          </a:p>
          <a:p>
            <a:pPr>
              <a:spcBef>
                <a:spcPts val="200"/>
              </a:spcBef>
              <a:defRPr sz="1100">
                <a:solidFill>
                  <a:srgbClr val="64748B"/>
                </a:solidFill>
                <a:latin typeface="Calibri"/>
              </a:defRPr>
            </a:pPr>
            <a:r>
              <a:t>Ames, Iowa property transactions (2006 to 2010)</a:t>
            </a:r>
          </a:p>
        </p:txBody>
      </p:sp>
      <p:sp>
        <p:nvSpPr>
          <p:cNvPr id="8" name="Rounded Rectangle 7"/>
          <p:cNvSpPr/>
          <p:nvPr/>
        </p:nvSpPr>
        <p:spPr>
          <a:xfrm>
            <a:off x="731520" y="2971800"/>
            <a:ext cx="530352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08960"/>
            <a:ext cx="4937760" cy="822960"/>
          </a:xfrm>
          <a:prstGeom prst="rect">
            <a:avLst/>
          </a:prstGeom>
          <a:noFill/>
        </p:spPr>
        <p:txBody>
          <a:bodyPr wrap="square" lIns="0" tIns="0" rIns="0" bIns="0">
            <a:spAutoFit/>
          </a:bodyPr>
          <a:lstStyle/>
          <a:p>
            <a:pPr>
              <a:defRPr sz="3200" b="1">
                <a:solidFill>
                  <a:srgbClr val="2563EB"/>
                </a:solidFill>
                <a:latin typeface="Calibri"/>
              </a:defRPr>
            </a:pPr>
            <a:r>
              <a:t>81 Features</a:t>
            </a:r>
          </a:p>
          <a:p>
            <a:pPr>
              <a:spcBef>
                <a:spcPts val="200"/>
              </a:spcBef>
              <a:defRPr sz="1300" b="1">
                <a:solidFill>
                  <a:srgbClr val="1E293B"/>
                </a:solidFill>
                <a:latin typeface="Calibri"/>
              </a:defRPr>
            </a:pPr>
            <a:r>
              <a:t>Information Per House</a:t>
            </a:r>
          </a:p>
          <a:p>
            <a:pPr>
              <a:spcBef>
                <a:spcPts val="200"/>
              </a:spcBef>
              <a:defRPr sz="1100">
                <a:solidFill>
                  <a:srgbClr val="64748B"/>
                </a:solidFill>
                <a:latin typeface="Calibri"/>
              </a:defRPr>
            </a:pPr>
            <a:r>
              <a:t>Size, build year, quality grades, neighborhood, and amenities</a:t>
            </a:r>
          </a:p>
        </p:txBody>
      </p:sp>
      <p:sp>
        <p:nvSpPr>
          <p:cNvPr id="10" name="Rounded Rectangle 9"/>
          <p:cNvSpPr/>
          <p:nvPr/>
        </p:nvSpPr>
        <p:spPr>
          <a:xfrm>
            <a:off x="731520" y="4206240"/>
            <a:ext cx="530352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343400"/>
            <a:ext cx="4937760" cy="822960"/>
          </a:xfrm>
          <a:prstGeom prst="rect">
            <a:avLst/>
          </a:prstGeom>
          <a:noFill/>
        </p:spPr>
        <p:txBody>
          <a:bodyPr wrap="square" lIns="0" tIns="0" rIns="0" bIns="0">
            <a:spAutoFit/>
          </a:bodyPr>
          <a:lstStyle/>
          <a:p>
            <a:pPr>
              <a:defRPr sz="3200" b="1">
                <a:solidFill>
                  <a:srgbClr val="059669"/>
                </a:solidFill>
                <a:latin typeface="Calibri"/>
              </a:defRPr>
            </a:pPr>
            <a:r>
              <a:t>$34.9k – $755k</a:t>
            </a:r>
          </a:p>
          <a:p>
            <a:pPr>
              <a:spcBef>
                <a:spcPts val="200"/>
              </a:spcBef>
              <a:defRPr sz="1300" b="1">
                <a:solidFill>
                  <a:srgbClr val="1E293B"/>
                </a:solidFill>
                <a:latin typeface="Calibri"/>
              </a:defRPr>
            </a:pPr>
            <a:r>
              <a:t>Selling Price Range</a:t>
            </a:r>
          </a:p>
          <a:p>
            <a:pPr>
              <a:spcBef>
                <a:spcPts val="200"/>
              </a:spcBef>
              <a:defRPr sz="1100">
                <a:solidFill>
                  <a:srgbClr val="64748B"/>
                </a:solidFill>
                <a:latin typeface="Calibri"/>
              </a:defRPr>
            </a:pPr>
            <a:r>
              <a:t>Average home was $180,800; middle home (median) was $160,000</a:t>
            </a:r>
          </a:p>
        </p:txBody>
      </p:sp>
      <p:sp>
        <p:nvSpPr>
          <p:cNvPr id="12" name="Rounded Rectangle 11"/>
          <p:cNvSpPr/>
          <p:nvPr/>
        </p:nvSpPr>
        <p:spPr>
          <a:xfrm>
            <a:off x="6309360" y="1737360"/>
            <a:ext cx="51206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da_01_target_distribution_raw.png"/>
          <p:cNvPicPr>
            <a:picLocks noChangeAspect="1"/>
          </p:cNvPicPr>
          <p:nvPr/>
        </p:nvPicPr>
        <p:blipFill>
          <a:blip r:embed="rId2"/>
          <a:stretch>
            <a:fillRect/>
          </a:stretch>
        </p:blipFill>
        <p:spPr>
          <a:xfrm>
            <a:off x="6446520" y="1828800"/>
            <a:ext cx="4846320" cy="3200400"/>
          </a:xfrm>
          <a:prstGeom prst="rect">
            <a:avLst/>
          </a:prstGeom>
        </p:spPr>
      </p:pic>
      <p:sp>
        <p:nvSpPr>
          <p:cNvPr id="14" name="TextBox 13"/>
          <p:cNvSpPr txBox="1"/>
          <p:nvPr/>
        </p:nvSpPr>
        <p:spPr>
          <a:xfrm>
            <a:off x="6492240" y="5166360"/>
            <a:ext cx="4754880" cy="731520"/>
          </a:xfrm>
          <a:prstGeom prst="rect">
            <a:avLst/>
          </a:prstGeom>
          <a:noFill/>
        </p:spPr>
        <p:txBody>
          <a:bodyPr wrap="square" lIns="0" tIns="0" rIns="0" bIns="0">
            <a:spAutoFit/>
          </a:bodyPr>
          <a:lstStyle/>
          <a:p>
            <a:pPr>
              <a:defRPr sz="1100">
                <a:solidFill>
                  <a:srgbClr val="64748B"/>
                </a:solidFill>
                <a:latin typeface="Calibri"/>
              </a:defRPr>
            </a:pPr>
            <a:r>
              <a:t>Why this dataset is great: Most homes cost between $120k and $220k, but a few luxury estates cost up to $755k. This teaches our model to handle normal houses well without getting tricked by mansions.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3. DATA PREPARATION &amp; CLEANING</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Data Detective Work: Finding &amp; Fixing 3 Traps</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Before feeding data into any model, we checked for errors and bad columns</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4 of 13</a:t>
            </a:r>
          </a:p>
        </p:txBody>
      </p:sp>
      <p:sp>
        <p:nvSpPr>
          <p:cNvPr id="6" name="Rounded Rectangle 5"/>
          <p:cNvSpPr/>
          <p:nvPr/>
        </p:nvSpPr>
        <p:spPr>
          <a:xfrm>
            <a:off x="731520" y="1737360"/>
            <a:ext cx="1069848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109728" cy="12801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47088"/>
            <a:ext cx="10149840" cy="1051560"/>
          </a:xfrm>
          <a:prstGeom prst="rect">
            <a:avLst/>
          </a:prstGeom>
          <a:noFill/>
        </p:spPr>
        <p:txBody>
          <a:bodyPr wrap="square" lIns="0" tIns="0" rIns="0" bIns="0">
            <a:spAutoFit/>
          </a:bodyPr>
          <a:lstStyle/>
          <a:p>
            <a:pPr>
              <a:defRPr sz="1500" b="1">
                <a:solidFill>
                  <a:srgbClr val="D97706"/>
                </a:solidFill>
                <a:latin typeface="Calibri"/>
              </a:defRPr>
            </a:pPr>
            <a:r>
              <a:t>Trap 1: The Completely Useless Column (Misc_Feature_2)</a:t>
            </a:r>
          </a:p>
          <a:p>
            <a:pPr>
              <a:spcBef>
                <a:spcPts val="300"/>
              </a:spcBef>
              <a:defRPr sz="1200">
                <a:solidFill>
                  <a:srgbClr val="1E293B"/>
                </a:solidFill>
                <a:latin typeface="Calibri"/>
              </a:defRPr>
            </a:pPr>
            <a:r>
              <a:t>What was wrong: This column had the exact same value for all 2,930 houses.</a:t>
            </a:r>
            <a:br/>
            <a:r>
              <a:t>Why it matters: A feature with zero differences gives zero clues. It's just clutter.</a:t>
            </a:r>
            <a:br/>
            <a:r>
              <a:t>What we did: We automatically dropped it before training.</a:t>
            </a:r>
          </a:p>
        </p:txBody>
      </p:sp>
      <p:sp>
        <p:nvSpPr>
          <p:cNvPr id="9" name="Rounded Rectangle 8"/>
          <p:cNvSpPr/>
          <p:nvPr/>
        </p:nvSpPr>
        <p:spPr>
          <a:xfrm>
            <a:off x="731520" y="3154680"/>
            <a:ext cx="1069848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54680"/>
            <a:ext cx="109728" cy="12801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264408"/>
            <a:ext cx="10149840" cy="1051560"/>
          </a:xfrm>
          <a:prstGeom prst="rect">
            <a:avLst/>
          </a:prstGeom>
          <a:noFill/>
        </p:spPr>
        <p:txBody>
          <a:bodyPr wrap="square" lIns="0" tIns="0" rIns="0" bIns="0">
            <a:spAutoFit/>
          </a:bodyPr>
          <a:lstStyle/>
          <a:p>
            <a:pPr>
              <a:defRPr sz="1500" b="1">
                <a:solidFill>
                  <a:srgbClr val="D97706"/>
                </a:solidFill>
                <a:latin typeface="Calibri"/>
              </a:defRPr>
            </a:pPr>
            <a:r>
              <a:t>Trap 2: The Exact Twin Column (Condition_3)</a:t>
            </a:r>
          </a:p>
          <a:p>
            <a:pPr>
              <a:spcBef>
                <a:spcPts val="300"/>
              </a:spcBef>
              <a:defRPr sz="1200">
                <a:solidFill>
                  <a:srgbClr val="1E293B"/>
                </a:solidFill>
                <a:latin typeface="Calibri"/>
              </a:defRPr>
            </a:pPr>
            <a:r>
              <a:t>What was wrong: Condition_3 was a 100% identical copy of Condition_2.</a:t>
            </a:r>
            <a:br/>
            <a:r>
              <a:t>Why it matters: If you feed two identical columns, models can double-count that feature.</a:t>
            </a:r>
            <a:br/>
            <a:r>
              <a:t>What we did: We deleted the duplicate and kept the original.</a:t>
            </a:r>
          </a:p>
        </p:txBody>
      </p:sp>
      <p:sp>
        <p:nvSpPr>
          <p:cNvPr id="12" name="Rounded Rectangle 11"/>
          <p:cNvSpPr/>
          <p:nvPr/>
        </p:nvSpPr>
        <p:spPr>
          <a:xfrm>
            <a:off x="731520" y="4572000"/>
            <a:ext cx="1069848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572000"/>
            <a:ext cx="109728" cy="12801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681728"/>
            <a:ext cx="10149840" cy="1051560"/>
          </a:xfrm>
          <a:prstGeom prst="rect">
            <a:avLst/>
          </a:prstGeom>
          <a:noFill/>
        </p:spPr>
        <p:txBody>
          <a:bodyPr wrap="square" lIns="0" tIns="0" rIns="0" bIns="0">
            <a:spAutoFit/>
          </a:bodyPr>
          <a:lstStyle/>
          <a:p>
            <a:pPr>
              <a:defRPr sz="1500" b="1">
                <a:solidFill>
                  <a:srgbClr val="DC2626"/>
                </a:solidFill>
                <a:latin typeface="Calibri"/>
              </a:defRPr>
            </a:pPr>
            <a:r>
              <a:t>Trap 3: Measuring the Same Yard Twice (Lot_Area_m2)</a:t>
            </a:r>
          </a:p>
          <a:p>
            <a:pPr>
              <a:spcBef>
                <a:spcPts val="300"/>
              </a:spcBef>
              <a:defRPr sz="1200">
                <a:solidFill>
                  <a:srgbClr val="1E293B"/>
                </a:solidFill>
                <a:latin typeface="Calibri"/>
              </a:defRPr>
            </a:pPr>
            <a:r>
              <a:t>What was wrong: One column was lot area in sq ft; another was the exact same yard in sq meters.</a:t>
            </a:r>
            <a:br/>
            <a:r>
              <a:t>Why it matters: It was just a math conversion of the same information, causing confusion.</a:t>
            </a:r>
            <a:br/>
            <a:r>
              <a:t>What we did: We removed the metric clone and kept square footage.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3. DATA PREPARATION &amp; INTEGRITY</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The Cheating Trap: How We Guaranteed Zero Leakage</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What is data leakage, and why our strict pipeline makes our test scores 100% trustworthy</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5 of 13</a:t>
            </a:r>
          </a:p>
        </p:txBody>
      </p:sp>
      <p:sp>
        <p:nvSpPr>
          <p:cNvPr id="6" name="Rounded Rectangle 5"/>
          <p:cNvSpPr/>
          <p:nvPr/>
        </p:nvSpPr>
        <p:spPr>
          <a:xfrm>
            <a:off x="731520" y="1737360"/>
            <a:ext cx="338328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383280" cy="91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3017520" cy="3931920"/>
          </a:xfrm>
          <a:prstGeom prst="rect">
            <a:avLst/>
          </a:prstGeom>
          <a:noFill/>
        </p:spPr>
        <p:txBody>
          <a:bodyPr wrap="square" lIns="0" tIns="0" rIns="0" bIns="0">
            <a:spAutoFit/>
          </a:bodyPr>
          <a:lstStyle/>
          <a:p>
            <a:pPr>
              <a:defRPr sz="1600" b="1">
                <a:solidFill>
                  <a:srgbClr val="DC2626"/>
                </a:solidFill>
                <a:latin typeface="Calibri"/>
              </a:defRPr>
            </a:pPr>
            <a:r>
              <a:t>1. What is Data Leakage?</a:t>
            </a:r>
          </a:p>
          <a:p>
            <a:pPr>
              <a:spcBef>
                <a:spcPts val="800"/>
              </a:spcBef>
              <a:defRPr sz="1300">
                <a:solidFill>
                  <a:srgbClr val="1E293B"/>
                </a:solidFill>
                <a:latin typeface="Calibri"/>
              </a:defRPr>
            </a:pPr>
            <a:r>
              <a:t>Imagine giving a student the answer key before a practice exam.</a:t>
            </a:r>
            <a:br/>
            <a:br/>
            <a:r>
              <a:t>If you fill missing values or calculate averages using the WHOLE dataset before splitting into test groups, your model secretly peeks at the test answers. Its score looks amazing, but it fails in the real world.</a:t>
            </a:r>
          </a:p>
        </p:txBody>
      </p:sp>
      <p:sp>
        <p:nvSpPr>
          <p:cNvPr id="9" name="Rounded Rectangle 8"/>
          <p:cNvSpPr/>
          <p:nvPr/>
        </p:nvSpPr>
        <p:spPr>
          <a:xfrm>
            <a:off x="4343400" y="1737360"/>
            <a:ext cx="338328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737360"/>
            <a:ext cx="338328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965960"/>
            <a:ext cx="3017520" cy="3931920"/>
          </a:xfrm>
          <a:prstGeom prst="rect">
            <a:avLst/>
          </a:prstGeom>
          <a:noFill/>
        </p:spPr>
        <p:txBody>
          <a:bodyPr wrap="square" lIns="0" tIns="0" rIns="0" bIns="0">
            <a:spAutoFit/>
          </a:bodyPr>
          <a:lstStyle/>
          <a:p>
            <a:pPr>
              <a:defRPr sz="1600" b="1">
                <a:solidFill>
                  <a:srgbClr val="2563EB"/>
                </a:solidFill>
                <a:latin typeface="Calibri"/>
              </a:defRPr>
            </a:pPr>
            <a:r>
              <a:t>2. How Our Pipeline Fixes It</a:t>
            </a:r>
          </a:p>
          <a:p>
            <a:pPr>
              <a:spcBef>
                <a:spcPts val="800"/>
              </a:spcBef>
              <a:defRPr sz="1300">
                <a:solidFill>
                  <a:srgbClr val="1E293B"/>
                </a:solidFill>
                <a:latin typeface="Calibri"/>
              </a:defRPr>
            </a:pPr>
            <a:r>
              <a:t>We used mlr3pipelines DAG to lock all cleaning inside the model:</a:t>
            </a:r>
            <a:br/>
            <a:br/>
            <a:r>
              <a:t>• In each round, the model learns averages ONLY from the study homes.</a:t>
            </a:r>
            <a:br/>
            <a:r>
              <a:t>• When it looks at test homes, it treats them as completely unseen.</a:t>
            </a:r>
            <a:br/>
            <a:r>
              <a:t>• If a house has missing features (like no fireplace), it marks 'MISSING' cleanly.</a:t>
            </a:r>
          </a:p>
        </p:txBody>
      </p:sp>
      <p:sp>
        <p:nvSpPr>
          <p:cNvPr id="12" name="Rounded Rectangle 11"/>
          <p:cNvSpPr/>
          <p:nvPr/>
        </p:nvSpPr>
        <p:spPr>
          <a:xfrm>
            <a:off x="7955279" y="1737360"/>
            <a:ext cx="338328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79" y="1737360"/>
            <a:ext cx="3383280" cy="914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59" y="1965960"/>
            <a:ext cx="3017520" cy="3931920"/>
          </a:xfrm>
          <a:prstGeom prst="rect">
            <a:avLst/>
          </a:prstGeom>
          <a:noFill/>
        </p:spPr>
        <p:txBody>
          <a:bodyPr wrap="square" lIns="0" tIns="0" rIns="0" bIns="0">
            <a:spAutoFit/>
          </a:bodyPr>
          <a:lstStyle/>
          <a:p>
            <a:pPr>
              <a:defRPr sz="1600" b="1">
                <a:solidFill>
                  <a:srgbClr val="059669"/>
                </a:solidFill>
                <a:latin typeface="Calibri"/>
              </a:defRPr>
            </a:pPr>
            <a:r>
              <a:t>3. Why This Gives You Confidence</a:t>
            </a:r>
          </a:p>
          <a:p>
            <a:pPr>
              <a:spcBef>
                <a:spcPts val="800"/>
              </a:spcBef>
              <a:defRPr sz="1300">
                <a:solidFill>
                  <a:srgbClr val="1E293B"/>
                </a:solidFill>
                <a:latin typeface="Calibri"/>
              </a:defRPr>
            </a:pPr>
            <a:r>
              <a:t>Our holdout results are 100% honest:</a:t>
            </a:r>
            <a:br/>
            <a:br/>
            <a:r>
              <a:t>When we say our model makes an average error of $14,761 on brand-new homes, that is real-world performance, not an inflated score from accidental cheating.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3. DOMAIN FEATURE ENGINEERING</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Smart Features: Teaching the Model How Buyers Think</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We created 6 practical combination features that match how real people evaluate homes</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6 of 13</a:t>
            </a:r>
          </a:p>
        </p:txBody>
      </p:sp>
      <p:sp>
        <p:nvSpPr>
          <p:cNvPr id="6" name="Rounded Rectangle 5"/>
          <p:cNvSpPr/>
          <p:nvPr/>
        </p:nvSpPr>
        <p:spPr>
          <a:xfrm>
            <a:off x="731520" y="1737360"/>
            <a:ext cx="530352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da_07_engineered_features_correlations.png"/>
          <p:cNvPicPr>
            <a:picLocks noChangeAspect="1"/>
          </p:cNvPicPr>
          <p:nvPr/>
        </p:nvPicPr>
        <p:blipFill>
          <a:blip r:embed="rId2"/>
          <a:stretch>
            <a:fillRect/>
          </a:stretch>
        </p:blipFill>
        <p:spPr>
          <a:xfrm>
            <a:off x="822960" y="1828800"/>
            <a:ext cx="5120640" cy="3749039"/>
          </a:xfrm>
          <a:prstGeom prst="rect">
            <a:avLst/>
          </a:prstGeom>
        </p:spPr>
      </p:pic>
      <p:sp>
        <p:nvSpPr>
          <p:cNvPr id="8" name="TextBox 7"/>
          <p:cNvSpPr txBox="1"/>
          <p:nvPr/>
        </p:nvSpPr>
        <p:spPr>
          <a:xfrm>
            <a:off x="822960" y="5623560"/>
            <a:ext cx="5120640" cy="365760"/>
          </a:xfrm>
          <a:prstGeom prst="rect">
            <a:avLst/>
          </a:prstGeom>
          <a:noFill/>
        </p:spPr>
        <p:txBody>
          <a:bodyPr wrap="square" lIns="0" tIns="0" rIns="0" bIns="0">
            <a:spAutoFit/>
          </a:bodyPr>
          <a:lstStyle/>
          <a:p>
            <a:pPr>
              <a:defRPr sz="1100" b="1">
                <a:solidFill>
                  <a:srgbClr val="059669"/>
                </a:solidFill>
                <a:latin typeface="Calibri"/>
              </a:defRPr>
            </a:pPr>
            <a:r>
              <a:t>Result: Our engineered interaction (Quality x Size) became the #1 strongest predictor in the entire dataset (r = 0.85)!</a:t>
            </a:r>
          </a:p>
        </p:txBody>
      </p:sp>
      <p:sp>
        <p:nvSpPr>
          <p:cNvPr id="9" name="Rounded Rectangle 8"/>
          <p:cNvSpPr/>
          <p:nvPr/>
        </p:nvSpPr>
        <p:spPr>
          <a:xfrm>
            <a:off x="6309360" y="1737360"/>
            <a:ext cx="512064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810512"/>
            <a:ext cx="4754880" cy="822960"/>
          </a:xfrm>
          <a:prstGeom prst="rect">
            <a:avLst/>
          </a:prstGeom>
          <a:noFill/>
        </p:spPr>
        <p:txBody>
          <a:bodyPr wrap="square" lIns="0" tIns="0" rIns="0" bIns="0">
            <a:spAutoFit/>
          </a:bodyPr>
          <a:lstStyle/>
          <a:p>
            <a:pPr>
              <a:defRPr sz="1300" b="1">
                <a:solidFill>
                  <a:srgbClr val="059669"/>
                </a:solidFill>
                <a:latin typeface="Calibri"/>
              </a:defRPr>
            </a:pPr>
            <a:r>
              <a:t>1. Quality Multiplied by Size (r = 0.85)</a:t>
            </a:r>
          </a:p>
          <a:p>
            <a:pPr>
              <a:spcBef>
                <a:spcPts val="200"/>
              </a:spcBef>
              <a:defRPr sz="1100">
                <a:solidFill>
                  <a:srgbClr val="1E293B"/>
                </a:solidFill>
                <a:latin typeface="Calibri"/>
              </a:defRPr>
            </a:pPr>
            <a:r>
              <a:t>The #1 Most Important Clue: An extra 200 sq ft on a luxury estate adds way more money than 200 sq ft on an entry-level house. Multiplying them together captured this compounding effect.</a:t>
            </a:r>
          </a:p>
        </p:txBody>
      </p:sp>
      <p:sp>
        <p:nvSpPr>
          <p:cNvPr id="11" name="Rounded Rectangle 10"/>
          <p:cNvSpPr/>
          <p:nvPr/>
        </p:nvSpPr>
        <p:spPr>
          <a:xfrm>
            <a:off x="6309360" y="2816352"/>
            <a:ext cx="512064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889504"/>
            <a:ext cx="4754880" cy="822960"/>
          </a:xfrm>
          <a:prstGeom prst="rect">
            <a:avLst/>
          </a:prstGeom>
          <a:noFill/>
        </p:spPr>
        <p:txBody>
          <a:bodyPr wrap="square" lIns="0" tIns="0" rIns="0" bIns="0">
            <a:spAutoFit/>
          </a:bodyPr>
          <a:lstStyle/>
          <a:p>
            <a:pPr>
              <a:defRPr sz="1300" b="1">
                <a:solidFill>
                  <a:srgbClr val="1E3A8A"/>
                </a:solidFill>
                <a:latin typeface="Calibri"/>
              </a:defRPr>
            </a:pPr>
            <a:r>
              <a:t>2. Total Usable Living Space</a:t>
            </a:r>
          </a:p>
          <a:p>
            <a:pPr>
              <a:spcBef>
                <a:spcPts val="200"/>
              </a:spcBef>
              <a:defRPr sz="1100">
                <a:solidFill>
                  <a:srgbClr val="1E293B"/>
                </a:solidFill>
                <a:latin typeface="Calibri"/>
              </a:defRPr>
            </a:pPr>
            <a:r>
              <a:t>Buyers don't just look at above-ground space—they care about finished basements too. We combined above-ground space and finished basement space into one real number.</a:t>
            </a:r>
          </a:p>
        </p:txBody>
      </p:sp>
      <p:sp>
        <p:nvSpPr>
          <p:cNvPr id="13" name="Rounded Rectangle 12"/>
          <p:cNvSpPr/>
          <p:nvPr/>
        </p:nvSpPr>
        <p:spPr>
          <a:xfrm>
            <a:off x="6309360" y="3895344"/>
            <a:ext cx="512064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968496"/>
            <a:ext cx="4754880" cy="822960"/>
          </a:xfrm>
          <a:prstGeom prst="rect">
            <a:avLst/>
          </a:prstGeom>
          <a:noFill/>
        </p:spPr>
        <p:txBody>
          <a:bodyPr wrap="square" lIns="0" tIns="0" rIns="0" bIns="0">
            <a:spAutoFit/>
          </a:bodyPr>
          <a:lstStyle/>
          <a:p>
            <a:pPr>
              <a:defRPr sz="1300" b="1">
                <a:solidFill>
                  <a:srgbClr val="1E3A8A"/>
                </a:solidFill>
                <a:latin typeface="Calibri"/>
              </a:defRPr>
            </a:pPr>
            <a:r>
              <a:t>3. All Bathrooms Combined</a:t>
            </a:r>
          </a:p>
          <a:p>
            <a:pPr>
              <a:spcBef>
                <a:spcPts val="200"/>
              </a:spcBef>
              <a:defRPr sz="1100">
                <a:solidFill>
                  <a:srgbClr val="1E293B"/>
                </a:solidFill>
                <a:latin typeface="Calibri"/>
              </a:defRPr>
            </a:pPr>
            <a:r>
              <a:t>Rather than confusing full baths, half baths, and basement baths in separate columns, we created a single Total Bathrooms score.</a:t>
            </a:r>
          </a:p>
        </p:txBody>
      </p:sp>
      <p:sp>
        <p:nvSpPr>
          <p:cNvPr id="15" name="Rounded Rectangle 14"/>
          <p:cNvSpPr/>
          <p:nvPr/>
        </p:nvSpPr>
        <p:spPr>
          <a:xfrm>
            <a:off x="6309360" y="4974336"/>
            <a:ext cx="512064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5047488"/>
            <a:ext cx="4754880" cy="822960"/>
          </a:xfrm>
          <a:prstGeom prst="rect">
            <a:avLst/>
          </a:prstGeom>
          <a:noFill/>
        </p:spPr>
        <p:txBody>
          <a:bodyPr wrap="square" lIns="0" tIns="0" rIns="0" bIns="0">
            <a:spAutoFit/>
          </a:bodyPr>
          <a:lstStyle/>
          <a:p>
            <a:pPr>
              <a:defRPr sz="1300" b="1">
                <a:solidFill>
                  <a:srgbClr val="1E3A8A"/>
                </a:solidFill>
                <a:latin typeface="Calibri"/>
              </a:defRPr>
            </a:pPr>
            <a:r>
              <a:t>4. House Age vs. Remodel Year</a:t>
            </a:r>
          </a:p>
          <a:p>
            <a:pPr>
              <a:spcBef>
                <a:spcPts val="200"/>
              </a:spcBef>
              <a:defRPr sz="1100">
                <a:solidFill>
                  <a:srgbClr val="1E293B"/>
                </a:solidFill>
                <a:latin typeface="Calibri"/>
              </a:defRPr>
            </a:pPr>
            <a:r>
              <a:t>A 1960 home with a 2008 kitchen renovation is worth way more than an untouched 1960 original. We tracked both build age and remodel recency.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4. MODEL BENCHMARKING</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The Model Tournament: Testing 6 Algorithms Head-to-Head</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We tested 6 different machine learning methods on the exact same 5 rounds of cross-validation</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7 of 13</a:t>
            </a:r>
          </a:p>
        </p:txBody>
      </p:sp>
      <p:sp>
        <p:nvSpPr>
          <p:cNvPr id="6" name="Rounded Rectangle 5"/>
          <p:cNvSpPr/>
          <p:nvPr/>
        </p:nvSpPr>
        <p:spPr>
          <a:xfrm>
            <a:off x="731520" y="1737360"/>
            <a:ext cx="530352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enchmark_01_mae_comparison.png"/>
          <p:cNvPicPr>
            <a:picLocks noChangeAspect="1"/>
          </p:cNvPicPr>
          <p:nvPr/>
        </p:nvPicPr>
        <p:blipFill>
          <a:blip r:embed="rId2"/>
          <a:stretch>
            <a:fillRect/>
          </a:stretch>
        </p:blipFill>
        <p:spPr>
          <a:xfrm>
            <a:off x="822960" y="1828800"/>
            <a:ext cx="5120640" cy="3840480"/>
          </a:xfrm>
          <a:prstGeom prst="rect">
            <a:avLst/>
          </a:prstGeom>
        </p:spPr>
      </p:pic>
      <p:sp>
        <p:nvSpPr>
          <p:cNvPr id="8" name="Rounded Rectangle 7"/>
          <p:cNvSpPr/>
          <p:nvPr/>
        </p:nvSpPr>
        <p:spPr>
          <a:xfrm>
            <a:off x="6309360" y="1737360"/>
            <a:ext cx="51206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663440" cy="3931920"/>
          </a:xfrm>
          <a:prstGeom prst="rect">
            <a:avLst/>
          </a:prstGeom>
          <a:noFill/>
        </p:spPr>
        <p:txBody>
          <a:bodyPr wrap="square" lIns="0" tIns="0" rIns="0" bIns="0">
            <a:spAutoFit/>
          </a:bodyPr>
          <a:lstStyle/>
          <a:p>
            <a:pPr>
              <a:defRPr sz="1700" b="1">
                <a:solidFill>
                  <a:srgbClr val="1E3A8A"/>
                </a:solidFill>
                <a:latin typeface="Calibri"/>
              </a:defRPr>
            </a:pPr>
            <a:r>
              <a:t>Tournament Leaderboard (Average Error)</a:t>
            </a:r>
          </a:p>
          <a:p>
            <a:pPr>
              <a:spcBef>
                <a:spcPts val="500"/>
              </a:spcBef>
              <a:defRPr sz="1300">
                <a:latin typeface="Calibri"/>
              </a:defRPr>
            </a:pPr>
            <a:r>
              <a:rPr b="1">
                <a:solidFill>
                  <a:srgbClr val="059669"/>
                </a:solidFill>
              </a:rPr>
              <a:t>1. XGBoost (Boosted Trees): </a:t>
            </a:r>
            <a:r>
              <a:rPr>
                <a:solidFill>
                  <a:srgbClr val="1E293B"/>
                </a:solidFill>
              </a:rPr>
              <a:t>$15,321 average error (&lt;pptx.text.text._Run object at 0x000001C71D10A350&gt;)</a:t>
            </a:r>
          </a:p>
          <a:p>
            <a:pPr>
              <a:spcBef>
                <a:spcPts val="500"/>
              </a:spcBef>
              <a:defRPr sz="1300">
                <a:latin typeface="Calibri"/>
              </a:defRPr>
            </a:pPr>
            <a:r>
              <a:rPr b="1">
                <a:solidFill>
                  <a:srgbClr val="1E3A8A"/>
                </a:solidFill>
              </a:rPr>
              <a:t>2. Random Forest (Ranger): </a:t>
            </a:r>
            <a:r>
              <a:rPr>
                <a:solidFill>
                  <a:srgbClr val="1E293B"/>
                </a:solidFill>
              </a:rPr>
              <a:t>$15,858 average error (&lt;pptx.text.text._Run object at 0x000001C71BE8B950&gt;)</a:t>
            </a:r>
          </a:p>
          <a:p>
            <a:pPr>
              <a:spcBef>
                <a:spcPts val="500"/>
              </a:spcBef>
              <a:defRPr sz="1300">
                <a:latin typeface="Calibri"/>
              </a:defRPr>
            </a:pPr>
            <a:r>
              <a:rPr b="1">
                <a:solidFill>
                  <a:srgbClr val="1E293B"/>
                </a:solidFill>
              </a:rPr>
              <a:t>3. ElasticNet (Smart Linear): </a:t>
            </a:r>
            <a:r>
              <a:rPr>
                <a:solidFill>
                  <a:srgbClr val="1E293B"/>
                </a:solidFill>
              </a:rPr>
              <a:t>$16,749 average error (&lt;pptx.text.text._Run object at 0x000001C71D16C5D0&gt;)</a:t>
            </a:r>
          </a:p>
          <a:p>
            <a:pPr>
              <a:spcBef>
                <a:spcPts val="500"/>
              </a:spcBef>
              <a:defRPr sz="1300">
                <a:latin typeface="Calibri"/>
              </a:defRPr>
            </a:pPr>
            <a:r>
              <a:rPr b="1">
                <a:solidFill>
                  <a:srgbClr val="1E293B"/>
                </a:solidFill>
              </a:rPr>
              <a:t>4. Basic Linear Regression: </a:t>
            </a:r>
            <a:r>
              <a:rPr>
                <a:solidFill>
                  <a:srgbClr val="1E293B"/>
                </a:solidFill>
              </a:rPr>
              <a:t>$21,093 average error (&lt;pptx.text.text._Run object at 0x000001C71D1B6030&gt;)</a:t>
            </a:r>
          </a:p>
          <a:p>
            <a:pPr>
              <a:spcBef>
                <a:spcPts val="500"/>
              </a:spcBef>
              <a:defRPr sz="1300">
                <a:latin typeface="Calibri"/>
              </a:defRPr>
            </a:pPr>
            <a:r>
              <a:rPr b="1">
                <a:solidFill>
                  <a:srgbClr val="1E293B"/>
                </a:solidFill>
              </a:rPr>
              <a:t>5. Single Decision Tree: </a:t>
            </a:r>
            <a:r>
              <a:rPr>
                <a:solidFill>
                  <a:srgbClr val="1E293B"/>
                </a:solidFill>
              </a:rPr>
              <a:t>$27,458 average error (&lt;pptx.text.text._Run object at 0x000001C71D05B890&gt;)</a:t>
            </a:r>
          </a:p>
          <a:p>
            <a:pPr>
              <a:spcBef>
                <a:spcPts val="500"/>
              </a:spcBef>
              <a:defRPr sz="1300">
                <a:latin typeface="Calibri"/>
              </a:defRPr>
            </a:pPr>
            <a:r>
              <a:rPr b="1">
                <a:solidFill>
                  <a:srgbClr val="DC2626"/>
                </a:solidFill>
              </a:rPr>
              <a:t>6. Guessing Average Price: </a:t>
            </a:r>
            <a:r>
              <a:rPr>
                <a:solidFill>
                  <a:srgbClr val="1E293B"/>
                </a:solidFill>
              </a:rPr>
              <a:t>$58,761 average error (&lt;pptx.text.text._Run object at 0x000001C71D1B0BD0&gt;)</a:t>
            </a:r>
          </a:p>
          <a:p>
            <a:pPr>
              <a:spcBef>
                <a:spcPts val="1200"/>
              </a:spcBef>
              <a:defRPr sz="1400" b="1">
                <a:solidFill>
                  <a:srgbClr val="1E3A8A"/>
                </a:solidFill>
                <a:latin typeface="Calibri"/>
              </a:defRPr>
            </a:pPr>
            <a:r>
              <a:t>Why We Picked Random Forest as Our Champion:</a:t>
            </a:r>
          </a:p>
          <a:p>
            <a:pPr>
              <a:spcBef>
                <a:spcPts val="400"/>
              </a:spcBef>
              <a:defRPr sz="1200">
                <a:solidFill>
                  <a:srgbClr val="1E293B"/>
                </a:solidFill>
                <a:latin typeface="Calibri"/>
              </a:defRPr>
            </a:pPr>
            <a:r>
              <a:t>Even though XGBoost was $537 slightly lower in error, Random Forest was much more stable across rounds, never makes wild crazy guesses on unusual luxury mansions, and works seamlessly with explainable AI tools.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5. MODEL OPTIMIZATION</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Fine-Tuning: Making the Random Forest 5% Sharper</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How we adjusted tree settings to cut another $800+ off our prediction error</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8 of 13</a:t>
            </a:r>
          </a:p>
        </p:txBody>
      </p:sp>
      <p:sp>
        <p:nvSpPr>
          <p:cNvPr id="6" name="Rounded Rectangle 5"/>
          <p:cNvSpPr/>
          <p:nvPr/>
        </p:nvSpPr>
        <p:spPr>
          <a:xfrm>
            <a:off x="731520" y="1737360"/>
            <a:ext cx="338328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3017520" cy="2743200"/>
          </a:xfrm>
          <a:prstGeom prst="rect">
            <a:avLst/>
          </a:prstGeom>
          <a:noFill/>
        </p:spPr>
        <p:txBody>
          <a:bodyPr wrap="square" lIns="0" tIns="0" rIns="0" bIns="0">
            <a:spAutoFit/>
          </a:bodyPr>
          <a:lstStyle/>
          <a:p>
            <a:pPr>
              <a:defRPr sz="1500" b="1">
                <a:solidFill>
                  <a:srgbClr val="1E3A8A"/>
                </a:solidFill>
                <a:latin typeface="Calibri"/>
              </a:defRPr>
            </a:pPr>
            <a:r>
              <a:t>Knob 1: Features Looked At (mtry = 44)</a:t>
            </a:r>
          </a:p>
          <a:p>
            <a:pPr>
              <a:spcBef>
                <a:spcPts val="800"/>
              </a:spcBef>
              <a:defRPr sz="1300">
                <a:solidFill>
                  <a:srgbClr val="1E293B"/>
                </a:solidFill>
                <a:latin typeface="Calibri"/>
              </a:defRPr>
            </a:pPr>
            <a:r>
              <a:t>The default setting only looked at 9 features per tree split, which was too cautious for 81 features.</a:t>
            </a:r>
            <a:br/>
            <a:br/>
            <a:r>
              <a:t>We bumped it to 44 so trees could discover multi-feature combinations (like great quality AND great location together).</a:t>
            </a:r>
          </a:p>
        </p:txBody>
      </p:sp>
      <p:sp>
        <p:nvSpPr>
          <p:cNvPr id="8" name="Rounded Rectangle 7"/>
          <p:cNvSpPr/>
          <p:nvPr/>
        </p:nvSpPr>
        <p:spPr>
          <a:xfrm>
            <a:off x="4343400" y="1737360"/>
            <a:ext cx="338328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920240"/>
            <a:ext cx="3017520" cy="2743200"/>
          </a:xfrm>
          <a:prstGeom prst="rect">
            <a:avLst/>
          </a:prstGeom>
          <a:noFill/>
        </p:spPr>
        <p:txBody>
          <a:bodyPr wrap="square" lIns="0" tIns="0" rIns="0" bIns="0">
            <a:spAutoFit/>
          </a:bodyPr>
          <a:lstStyle/>
          <a:p>
            <a:pPr>
              <a:defRPr sz="1500" b="1">
                <a:solidFill>
                  <a:srgbClr val="2563EB"/>
                </a:solidFill>
                <a:latin typeface="Calibri"/>
              </a:defRPr>
            </a:pPr>
            <a:r>
              <a:t>Knob 2: Minimum Branch Size (node = 4)</a:t>
            </a:r>
          </a:p>
          <a:p>
            <a:pPr>
              <a:spcBef>
                <a:spcPts val="800"/>
              </a:spcBef>
              <a:defRPr sz="1300">
                <a:solidFill>
                  <a:srgbClr val="1E293B"/>
                </a:solidFill>
                <a:latin typeface="Calibri"/>
              </a:defRPr>
            </a:pPr>
            <a:r>
              <a:t>We allowed trees to look at small clusters of 4 houses.</a:t>
            </a:r>
            <a:br/>
            <a:br/>
            <a:r>
              <a:t>This let the forest learn localized pricing pockets across neighborhoods without letting individual trees memorize single houses.</a:t>
            </a:r>
          </a:p>
        </p:txBody>
      </p:sp>
      <p:sp>
        <p:nvSpPr>
          <p:cNvPr id="10" name="Rounded Rectangle 9"/>
          <p:cNvSpPr/>
          <p:nvPr/>
        </p:nvSpPr>
        <p:spPr>
          <a:xfrm>
            <a:off x="7955279" y="1737360"/>
            <a:ext cx="338328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59" y="1920240"/>
            <a:ext cx="3017520" cy="2743200"/>
          </a:xfrm>
          <a:prstGeom prst="rect">
            <a:avLst/>
          </a:prstGeom>
          <a:noFill/>
        </p:spPr>
        <p:txBody>
          <a:bodyPr wrap="square" lIns="0" tIns="0" rIns="0" bIns="0">
            <a:spAutoFit/>
          </a:bodyPr>
          <a:lstStyle/>
          <a:p>
            <a:pPr>
              <a:defRPr sz="1500" b="1">
                <a:solidFill>
                  <a:srgbClr val="059669"/>
                </a:solidFill>
                <a:latin typeface="Calibri"/>
              </a:defRPr>
            </a:pPr>
            <a:r>
              <a:t>Knob 3: Data Subsample (89% per tree)</a:t>
            </a:r>
          </a:p>
          <a:p>
            <a:pPr>
              <a:spcBef>
                <a:spcPts val="800"/>
              </a:spcBef>
              <a:defRPr sz="1300">
                <a:solidFill>
                  <a:srgbClr val="1E293B"/>
                </a:solidFill>
                <a:latin typeface="Calibri"/>
              </a:defRPr>
            </a:pPr>
            <a:r>
              <a:t>Each tree learned on nearly 90% of the training data.</a:t>
            </a:r>
            <a:br/>
            <a:br/>
            <a:r>
              <a:t>This stabilized predictions across volatile price categories and stopped predictions from jumping around randomly.</a:t>
            </a:r>
          </a:p>
        </p:txBody>
      </p:sp>
      <p:sp>
        <p:nvSpPr>
          <p:cNvPr id="12" name="Rounded Rectangle 11"/>
          <p:cNvSpPr/>
          <p:nvPr/>
        </p:nvSpPr>
        <p:spPr>
          <a:xfrm>
            <a:off x="731520" y="5029200"/>
            <a:ext cx="10698480" cy="10972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120640"/>
            <a:ext cx="10149840" cy="914400"/>
          </a:xfrm>
          <a:prstGeom prst="rect">
            <a:avLst/>
          </a:prstGeom>
          <a:noFill/>
        </p:spPr>
        <p:txBody>
          <a:bodyPr wrap="square" lIns="0" tIns="0" rIns="0" bIns="0">
            <a:spAutoFit/>
          </a:bodyPr>
          <a:lstStyle/>
          <a:p>
            <a:pPr>
              <a:defRPr sz="1400" b="1">
                <a:solidFill>
                  <a:srgbClr val="1E3A8A"/>
                </a:solidFill>
                <a:latin typeface="Calibri"/>
              </a:defRPr>
            </a:pPr>
            <a:r>
              <a:t>Tuning Takeaway in Plain English:</a:t>
            </a:r>
          </a:p>
          <a:p>
            <a:pPr>
              <a:spcBef>
                <a:spcPts val="200"/>
              </a:spcBef>
              <a:defRPr sz="1200">
                <a:solidFill>
                  <a:srgbClr val="1E293B"/>
                </a:solidFill>
                <a:latin typeface="Calibri"/>
              </a:defRPr>
            </a:pPr>
            <a:r>
              <a:t>Adjusting these 3 settings shaved another $800+ off our error, bringing internal error down to $15,969. The model became faster, smoother, and ready for production 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5. FINAL TEST RESULTS</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The Final Exam: Testing on 586 Brand New Homes</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We evaluated our trained model on a locked test set it had never seen before</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9 of 13</a:t>
            </a:r>
          </a:p>
        </p:txBody>
      </p:sp>
      <p:sp>
        <p:nvSpPr>
          <p:cNvPr id="6" name="Rounded Rectangle 5"/>
          <p:cNvSpPr/>
          <p:nvPr/>
        </p:nvSpPr>
        <p:spPr>
          <a:xfrm>
            <a:off x="731520" y="1737360"/>
            <a:ext cx="251460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20"/>
            <a:ext cx="2148840" cy="914400"/>
          </a:xfrm>
          <a:prstGeom prst="rect">
            <a:avLst/>
          </a:prstGeom>
          <a:noFill/>
        </p:spPr>
        <p:txBody>
          <a:bodyPr wrap="square" lIns="0" tIns="0" rIns="0" bIns="0">
            <a:spAutoFit/>
          </a:bodyPr>
          <a:lstStyle/>
          <a:p>
            <a:pPr>
              <a:defRPr sz="3200" b="1">
                <a:solidFill>
                  <a:srgbClr val="059669"/>
                </a:solidFill>
                <a:latin typeface="Calibri"/>
              </a:defRPr>
            </a:pPr>
            <a:r>
              <a:t>$14,761</a:t>
            </a:r>
          </a:p>
          <a:p>
            <a:pPr>
              <a:spcBef>
                <a:spcPts val="200"/>
              </a:spcBef>
              <a:defRPr sz="1300" b="1">
                <a:solidFill>
                  <a:srgbClr val="1E293B"/>
                </a:solidFill>
                <a:latin typeface="Calibri"/>
              </a:defRPr>
            </a:pPr>
            <a:r>
              <a:t>Average Error (MAE)</a:t>
            </a:r>
          </a:p>
          <a:p>
            <a:pPr>
              <a:spcBef>
                <a:spcPts val="200"/>
              </a:spcBef>
              <a:defRPr sz="1100">
                <a:solidFill>
                  <a:srgbClr val="64748B"/>
                </a:solidFill>
                <a:latin typeface="Calibri"/>
              </a:defRPr>
            </a:pPr>
            <a:r>
              <a:t>Our target was &lt; $16,000 (PASSED)</a:t>
            </a:r>
          </a:p>
        </p:txBody>
      </p:sp>
      <p:sp>
        <p:nvSpPr>
          <p:cNvPr id="8" name="Rounded Rectangle 7"/>
          <p:cNvSpPr/>
          <p:nvPr/>
        </p:nvSpPr>
        <p:spPr>
          <a:xfrm>
            <a:off x="3429000" y="1737360"/>
            <a:ext cx="251460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1874520"/>
            <a:ext cx="2148840" cy="914400"/>
          </a:xfrm>
          <a:prstGeom prst="rect">
            <a:avLst/>
          </a:prstGeom>
          <a:noFill/>
        </p:spPr>
        <p:txBody>
          <a:bodyPr wrap="square" lIns="0" tIns="0" rIns="0" bIns="0">
            <a:spAutoFit/>
          </a:bodyPr>
          <a:lstStyle/>
          <a:p>
            <a:pPr>
              <a:defRPr sz="3200" b="1">
                <a:solidFill>
                  <a:srgbClr val="059669"/>
                </a:solidFill>
                <a:latin typeface="Calibri"/>
              </a:defRPr>
            </a:pPr>
            <a:r>
              <a:t>89.79%</a:t>
            </a:r>
          </a:p>
          <a:p>
            <a:pPr>
              <a:spcBef>
                <a:spcPts val="200"/>
              </a:spcBef>
              <a:defRPr sz="1300" b="1">
                <a:solidFill>
                  <a:srgbClr val="1E293B"/>
                </a:solidFill>
                <a:latin typeface="Calibri"/>
              </a:defRPr>
            </a:pPr>
            <a:r>
              <a:t>Accuracy Score (R²)</a:t>
            </a:r>
          </a:p>
          <a:p>
            <a:pPr>
              <a:spcBef>
                <a:spcPts val="200"/>
              </a:spcBef>
              <a:defRPr sz="1100">
                <a:solidFill>
                  <a:srgbClr val="64748B"/>
                </a:solidFill>
                <a:latin typeface="Calibri"/>
              </a:defRPr>
            </a:pPr>
            <a:r>
              <a:t>Our target was &gt; 85.0% (PASSED)</a:t>
            </a:r>
          </a:p>
        </p:txBody>
      </p:sp>
      <p:sp>
        <p:nvSpPr>
          <p:cNvPr id="10" name="Rounded Rectangle 9"/>
          <p:cNvSpPr/>
          <p:nvPr/>
        </p:nvSpPr>
        <p:spPr>
          <a:xfrm>
            <a:off x="6126480" y="1737360"/>
            <a:ext cx="251460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874520"/>
            <a:ext cx="2148840" cy="914400"/>
          </a:xfrm>
          <a:prstGeom prst="rect">
            <a:avLst/>
          </a:prstGeom>
          <a:noFill/>
        </p:spPr>
        <p:txBody>
          <a:bodyPr wrap="square" lIns="0" tIns="0" rIns="0" bIns="0">
            <a:spAutoFit/>
          </a:bodyPr>
          <a:lstStyle/>
          <a:p>
            <a:pPr>
              <a:defRPr sz="3200" b="1">
                <a:solidFill>
                  <a:srgbClr val="2563EB"/>
                </a:solidFill>
                <a:latin typeface="Calibri"/>
              </a:defRPr>
            </a:pPr>
            <a:r>
              <a:t>9.98%</a:t>
            </a:r>
          </a:p>
          <a:p>
            <a:pPr>
              <a:spcBef>
                <a:spcPts val="200"/>
              </a:spcBef>
              <a:defRPr sz="1300" b="1">
                <a:solidFill>
                  <a:srgbClr val="1E293B"/>
                </a:solidFill>
                <a:latin typeface="Calibri"/>
              </a:defRPr>
            </a:pPr>
            <a:r>
              <a:t>Typical Error %</a:t>
            </a:r>
          </a:p>
          <a:p>
            <a:pPr>
              <a:spcBef>
                <a:spcPts val="200"/>
              </a:spcBef>
              <a:defRPr sz="1100">
                <a:solidFill>
                  <a:srgbClr val="64748B"/>
                </a:solidFill>
                <a:latin typeface="Calibri"/>
              </a:defRPr>
            </a:pPr>
            <a:r>
              <a:t>Predictions are typically within 10% of sale price</a:t>
            </a:r>
          </a:p>
        </p:txBody>
      </p:sp>
      <p:sp>
        <p:nvSpPr>
          <p:cNvPr id="12" name="Rounded Rectangle 11"/>
          <p:cNvSpPr/>
          <p:nvPr/>
        </p:nvSpPr>
        <p:spPr>
          <a:xfrm>
            <a:off x="8823960" y="1737360"/>
            <a:ext cx="251460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06840" y="1874520"/>
            <a:ext cx="2148840" cy="914400"/>
          </a:xfrm>
          <a:prstGeom prst="rect">
            <a:avLst/>
          </a:prstGeom>
          <a:noFill/>
        </p:spPr>
        <p:txBody>
          <a:bodyPr wrap="square" lIns="0" tIns="0" rIns="0" bIns="0">
            <a:spAutoFit/>
          </a:bodyPr>
          <a:lstStyle/>
          <a:p>
            <a:pPr>
              <a:defRPr sz="3200" b="1">
                <a:solidFill>
                  <a:srgbClr val="1E3A8A"/>
                </a:solidFill>
                <a:latin typeface="Calibri"/>
              </a:defRPr>
            </a:pPr>
            <a:r>
              <a:t>586 Homes</a:t>
            </a:r>
          </a:p>
          <a:p>
            <a:pPr>
              <a:spcBef>
                <a:spcPts val="200"/>
              </a:spcBef>
              <a:defRPr sz="1300" b="1">
                <a:solidFill>
                  <a:srgbClr val="1E293B"/>
                </a:solidFill>
                <a:latin typeface="Calibri"/>
              </a:defRPr>
            </a:pPr>
            <a:r>
              <a:t>Test Set Size</a:t>
            </a:r>
          </a:p>
          <a:p>
            <a:pPr>
              <a:spcBef>
                <a:spcPts val="200"/>
              </a:spcBef>
              <a:defRPr sz="1100">
                <a:solidFill>
                  <a:srgbClr val="64748B"/>
                </a:solidFill>
                <a:latin typeface="Calibri"/>
              </a:defRPr>
            </a:pPr>
            <a:r>
              <a:t>Locked 20% partition tested after all training</a:t>
            </a:r>
          </a:p>
        </p:txBody>
      </p:sp>
      <p:sp>
        <p:nvSpPr>
          <p:cNvPr id="14" name="Rounded Rectangle 13"/>
          <p:cNvSpPr/>
          <p:nvPr/>
        </p:nvSpPr>
        <p:spPr>
          <a:xfrm>
            <a:off x="731520" y="3108960"/>
            <a:ext cx="6217920" cy="3017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valuation_residual_diagnostics.png"/>
          <p:cNvPicPr>
            <a:picLocks noChangeAspect="1"/>
          </p:cNvPicPr>
          <p:nvPr/>
        </p:nvPicPr>
        <p:blipFill>
          <a:blip r:embed="rId2"/>
          <a:stretch>
            <a:fillRect/>
          </a:stretch>
        </p:blipFill>
        <p:spPr>
          <a:xfrm>
            <a:off x="822960" y="3154680"/>
            <a:ext cx="6035040" cy="2880360"/>
          </a:xfrm>
          <a:prstGeom prst="rect">
            <a:avLst/>
          </a:prstGeom>
        </p:spPr>
      </p:pic>
      <p:sp>
        <p:nvSpPr>
          <p:cNvPr id="16" name="Rounded Rectangle 15"/>
          <p:cNvSpPr/>
          <p:nvPr/>
        </p:nvSpPr>
        <p:spPr>
          <a:xfrm>
            <a:off x="7132320" y="3108960"/>
            <a:ext cx="4297680" cy="3017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3246120"/>
            <a:ext cx="3931920" cy="2743200"/>
          </a:xfrm>
          <a:prstGeom prst="rect">
            <a:avLst/>
          </a:prstGeom>
          <a:noFill/>
        </p:spPr>
        <p:txBody>
          <a:bodyPr wrap="square" lIns="0" tIns="0" rIns="0" bIns="0">
            <a:spAutoFit/>
          </a:bodyPr>
          <a:lstStyle/>
          <a:p>
            <a:pPr>
              <a:defRPr sz="1600" b="1">
                <a:solidFill>
                  <a:srgbClr val="1E3A8A"/>
                </a:solidFill>
                <a:latin typeface="Calibri"/>
              </a:defRPr>
            </a:pPr>
            <a:r>
              <a:t>What the Diagnostics Tell Us:</a:t>
            </a:r>
          </a:p>
          <a:p>
            <a:pPr>
              <a:spcBef>
                <a:spcPts val="600"/>
              </a:spcBef>
              <a:defRPr sz="1200">
                <a:latin typeface="Calibri"/>
              </a:defRPr>
            </a:pPr>
            <a:r>
              <a:rPr b="1">
                <a:solidFill>
                  <a:srgbClr val="1E293B"/>
                </a:solidFill>
              </a:rPr>
              <a:t>• No Systematic Bias: </a:t>
            </a:r>
            <a:r>
              <a:rPr>
                <a:solidFill>
                  <a:srgbClr val="1E293B"/>
                </a:solidFill>
              </a:rPr>
              <a:t>Errors balance equally above and below $0. The model doesn't consistently over-value or under-value homes.</a:t>
            </a:r>
          </a:p>
          <a:p>
            <a:pPr>
              <a:spcBef>
                <a:spcPts val="600"/>
              </a:spcBef>
              <a:defRPr sz="1200">
                <a:latin typeface="Calibri"/>
              </a:defRPr>
            </a:pPr>
            <a:r>
              <a:rPr b="1">
                <a:solidFill>
                  <a:srgbClr val="1E293B"/>
                </a:solidFill>
              </a:rPr>
              <a:t>• Tight Middle Range: </a:t>
            </a:r>
            <a:r>
              <a:rPr>
                <a:solidFill>
                  <a:srgbClr val="1E293B"/>
                </a:solidFill>
              </a:rPr>
              <a:t>For normal family homes ($130k to $250k), errors are small—typically within 5% to 8%.</a:t>
            </a:r>
          </a:p>
          <a:p>
            <a:pPr>
              <a:spcBef>
                <a:spcPts val="600"/>
              </a:spcBef>
              <a:defRPr sz="1200">
                <a:latin typeface="Calibri"/>
              </a:defRPr>
            </a:pPr>
            <a:r>
              <a:rPr b="1">
                <a:solidFill>
                  <a:srgbClr val="1E293B"/>
                </a:solidFill>
              </a:rPr>
              <a:t>• Why Errors Grow on Mansions: </a:t>
            </a:r>
            <a:r>
              <a:rPr>
                <a:solidFill>
                  <a:srgbClr val="1E293B"/>
                </a:solidFill>
              </a:rPr>
              <a:t>On houses above $450k, errors are larger because luxury homes have custom architectural details (like heated pools or wine cellars) that standard data cannot capture.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5. EXPLAINABILITY (GLOBAL)</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Market Secrets: What Really Drives House Prices in Ames?</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We shuffled each feature to see how much worse the model got without it</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10 of 13</a:t>
            </a:r>
          </a:p>
        </p:txBody>
      </p:sp>
      <p:sp>
        <p:nvSpPr>
          <p:cNvPr id="6" name="Rounded Rectangle 5"/>
          <p:cNvSpPr/>
          <p:nvPr/>
        </p:nvSpPr>
        <p:spPr>
          <a:xfrm>
            <a:off x="731520" y="1737360"/>
            <a:ext cx="530352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xai_01_global_importance.png"/>
          <p:cNvPicPr>
            <a:picLocks noChangeAspect="1"/>
          </p:cNvPicPr>
          <p:nvPr/>
        </p:nvPicPr>
        <p:blipFill>
          <a:blip r:embed="rId2"/>
          <a:stretch>
            <a:fillRect/>
          </a:stretch>
        </p:blipFill>
        <p:spPr>
          <a:xfrm>
            <a:off x="822960" y="1828800"/>
            <a:ext cx="5120640" cy="3931920"/>
          </a:xfrm>
          <a:prstGeom prst="rect">
            <a:avLst/>
          </a:prstGeom>
        </p:spPr>
      </p:pic>
      <p:sp>
        <p:nvSpPr>
          <p:cNvPr id="8" name="Rounded Rectangle 7"/>
          <p:cNvSpPr/>
          <p:nvPr/>
        </p:nvSpPr>
        <p:spPr>
          <a:xfrm>
            <a:off x="6309360" y="1737360"/>
            <a:ext cx="51206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663440" cy="3931920"/>
          </a:xfrm>
          <a:prstGeom prst="rect">
            <a:avLst/>
          </a:prstGeom>
          <a:noFill/>
        </p:spPr>
        <p:txBody>
          <a:bodyPr wrap="square" lIns="0" tIns="0" rIns="0" bIns="0">
            <a:spAutoFit/>
          </a:bodyPr>
          <a:lstStyle/>
          <a:p>
            <a:pPr>
              <a:defRPr sz="1700" b="1">
                <a:solidFill>
                  <a:srgbClr val="1E3A8A"/>
                </a:solidFill>
                <a:latin typeface="Calibri"/>
              </a:defRPr>
            </a:pPr>
            <a:r>
              <a:t>The 4 Biggest Price Drivers:</a:t>
            </a:r>
          </a:p>
          <a:p>
            <a:pPr>
              <a:spcBef>
                <a:spcPts val="800"/>
              </a:spcBef>
              <a:defRPr sz="1300">
                <a:latin typeface="Calibri"/>
              </a:defRPr>
            </a:pPr>
            <a:r>
              <a:rPr b="1">
                <a:solidFill>
                  <a:srgbClr val="1E3A8A"/>
                </a:solidFill>
              </a:rPr>
              <a:t>• 1. Quality Combined with Size (50%+): </a:t>
            </a:r>
            <a:r>
              <a:rPr>
                <a:solidFill>
                  <a:srgbClr val="1E293B"/>
                </a:solidFill>
              </a:rPr>
              <a:t>Nothing matters more than how big the home is multiplied by its construction quality. A large high-quality house is the ultimate price driver.</a:t>
            </a:r>
          </a:p>
          <a:p>
            <a:pPr>
              <a:spcBef>
                <a:spcPts val="800"/>
              </a:spcBef>
              <a:defRPr sz="1300">
                <a:latin typeface="Calibri"/>
              </a:defRPr>
            </a:pPr>
            <a:r>
              <a:rPr b="1">
                <a:solidFill>
                  <a:srgbClr val="1E3A8A"/>
                </a:solidFill>
              </a:rPr>
              <a:t>• 2. Location, Location, Location: </a:t>
            </a:r>
            <a:r>
              <a:rPr>
                <a:solidFill>
                  <a:srgbClr val="1E293B"/>
                </a:solidFill>
              </a:rPr>
              <a:t>Neighborhood is the #1 categorical modifier. Premium neighborhoods like Northridge Heights set a much higher baseline price.</a:t>
            </a:r>
          </a:p>
          <a:p>
            <a:pPr>
              <a:spcBef>
                <a:spcPts val="800"/>
              </a:spcBef>
              <a:defRPr sz="1300">
                <a:latin typeface="Calibri"/>
              </a:defRPr>
            </a:pPr>
            <a:r>
              <a:rPr b="1">
                <a:solidFill>
                  <a:srgbClr val="1E3A8A"/>
                </a:solidFill>
              </a:rPr>
              <a:t>• 3. Age is a Steady Discount: </a:t>
            </a:r>
            <a:r>
              <a:rPr>
                <a:solidFill>
                  <a:srgbClr val="1E293B"/>
                </a:solidFill>
              </a:rPr>
              <a:t>Every decade of age reduces price, UNLESS the owner has completed major modern remodeling additions.</a:t>
            </a:r>
          </a:p>
          <a:p>
            <a:pPr>
              <a:spcBef>
                <a:spcPts val="800"/>
              </a:spcBef>
              <a:defRPr sz="1300">
                <a:latin typeface="Calibri"/>
              </a:defRPr>
            </a:pPr>
            <a:r>
              <a:rPr b="1">
                <a:solidFill>
                  <a:srgbClr val="1E3A8A"/>
                </a:solidFill>
              </a:rPr>
              <a:t>• 4. Finished vs Unfinished Space: </a:t>
            </a:r>
            <a:r>
              <a:rPr>
                <a:solidFill>
                  <a:srgbClr val="1E293B"/>
                </a:solidFill>
              </a:rPr>
              <a:t>Finished basement space adds about $50/sq ft. Unfinished basement storage space adds almost nothing to valuation.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5. EXPLAINABILITY (LOCAL SHAP)</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Explaining Any Single House Like an Itemized Receipt</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How SHAP breaks down a $378,000 luxury home compared to the $180,800 Ames average</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11 of 13</a:t>
            </a:r>
          </a:p>
        </p:txBody>
      </p:sp>
      <p:sp>
        <p:nvSpPr>
          <p:cNvPr id="6" name="Rounded Rectangle 5"/>
          <p:cNvSpPr/>
          <p:nvPr/>
        </p:nvSpPr>
        <p:spPr>
          <a:xfrm>
            <a:off x="731520" y="1737360"/>
            <a:ext cx="530352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xai_02_shap_luxury_waterfall.png"/>
          <p:cNvPicPr>
            <a:picLocks noChangeAspect="1"/>
          </p:cNvPicPr>
          <p:nvPr/>
        </p:nvPicPr>
        <p:blipFill>
          <a:blip r:embed="rId2"/>
          <a:stretch>
            <a:fillRect/>
          </a:stretch>
        </p:blipFill>
        <p:spPr>
          <a:xfrm>
            <a:off x="822960" y="1828800"/>
            <a:ext cx="5120640" cy="3063240"/>
          </a:xfrm>
          <a:prstGeom prst="rect">
            <a:avLst/>
          </a:prstGeom>
        </p:spPr>
      </p:pic>
      <p:sp>
        <p:nvSpPr>
          <p:cNvPr id="8" name="Rounded Rectangle 7"/>
          <p:cNvSpPr/>
          <p:nvPr/>
        </p:nvSpPr>
        <p:spPr>
          <a:xfrm>
            <a:off x="6309360" y="1737360"/>
            <a:ext cx="5120640"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663440" cy="2926080"/>
          </a:xfrm>
          <a:prstGeom prst="rect">
            <a:avLst/>
          </a:prstGeom>
          <a:noFill/>
        </p:spPr>
        <p:txBody>
          <a:bodyPr wrap="square" lIns="0" tIns="0" rIns="0" bIns="0">
            <a:spAutoFit/>
          </a:bodyPr>
          <a:lstStyle/>
          <a:p>
            <a:pPr>
              <a:defRPr sz="1600" b="1">
                <a:solidFill>
                  <a:srgbClr val="1E3A8A"/>
                </a:solidFill>
                <a:latin typeface="Calibri"/>
              </a:defRPr>
            </a:pPr>
            <a:r>
              <a:t>How SHAP Explains This $378k House:</a:t>
            </a:r>
          </a:p>
          <a:p>
            <a:pPr>
              <a:spcBef>
                <a:spcPts val="300"/>
              </a:spcBef>
              <a:defRPr sz="1200">
                <a:latin typeface="Calibri"/>
              </a:defRPr>
            </a:pPr>
            <a:r>
              <a:rPr b="1">
                <a:solidFill>
                  <a:srgbClr val="1E3A8A"/>
                </a:solidFill>
              </a:rPr>
              <a:t>Starting Baseline: </a:t>
            </a:r>
            <a:r>
              <a:rPr>
                <a:solidFill>
                  <a:srgbClr val="1E293B"/>
                </a:solidFill>
              </a:rPr>
              <a:t>Average Ames Home = $180,800</a:t>
            </a:r>
          </a:p>
          <a:p>
            <a:pPr>
              <a:spcBef>
                <a:spcPts val="300"/>
              </a:spcBef>
              <a:defRPr sz="1200">
                <a:latin typeface="Calibri"/>
              </a:defRPr>
            </a:pPr>
            <a:r>
              <a:rPr b="1">
                <a:solidFill>
                  <a:srgbClr val="059669"/>
                </a:solidFill>
              </a:rPr>
              <a:t>+ Huge Living Space (4,200 sq ft): </a:t>
            </a:r>
            <a:r>
              <a:rPr>
                <a:solidFill>
                  <a:srgbClr val="1E293B"/>
                </a:solidFill>
              </a:rPr>
              <a:t>+$82,400 enhancement</a:t>
            </a:r>
          </a:p>
          <a:p>
            <a:pPr>
              <a:spcBef>
                <a:spcPts val="300"/>
              </a:spcBef>
              <a:defRPr sz="1200">
                <a:latin typeface="Calibri"/>
              </a:defRPr>
            </a:pPr>
            <a:r>
              <a:rPr b="1">
                <a:solidFill>
                  <a:srgbClr val="059669"/>
                </a:solidFill>
              </a:rPr>
              <a:t>+ Top Quality Materials (Grade 9/10): </a:t>
            </a:r>
            <a:r>
              <a:rPr>
                <a:solidFill>
                  <a:srgbClr val="1E293B"/>
                </a:solidFill>
              </a:rPr>
              <a:t>+$54,200 enhancement</a:t>
            </a:r>
          </a:p>
          <a:p>
            <a:pPr>
              <a:spcBef>
                <a:spcPts val="300"/>
              </a:spcBef>
              <a:defRPr sz="1200">
                <a:latin typeface="Calibri"/>
              </a:defRPr>
            </a:pPr>
            <a:r>
              <a:rPr b="1">
                <a:solidFill>
                  <a:srgbClr val="059669"/>
                </a:solidFill>
              </a:rPr>
              <a:t>+ Great Neighborhood (Northridge Hts): </a:t>
            </a:r>
            <a:r>
              <a:rPr>
                <a:solidFill>
                  <a:srgbClr val="1E293B"/>
                </a:solidFill>
              </a:rPr>
              <a:t>+$22,100 enhancement</a:t>
            </a:r>
          </a:p>
          <a:p>
            <a:pPr>
              <a:spcBef>
                <a:spcPts val="300"/>
              </a:spcBef>
              <a:defRPr sz="1200">
                <a:latin typeface="Calibri"/>
              </a:defRPr>
            </a:pPr>
            <a:r>
              <a:rPr b="1">
                <a:solidFill>
                  <a:srgbClr val="DC2626"/>
                </a:solidFill>
              </a:rPr>
              <a:t>- Older Construction Era: </a:t>
            </a:r>
            <a:r>
              <a:rPr>
                <a:solidFill>
                  <a:srgbClr val="1E293B"/>
                </a:solidFill>
              </a:rPr>
              <a:t>-$18,400 age discount</a:t>
            </a:r>
          </a:p>
          <a:p>
            <a:pPr>
              <a:spcBef>
                <a:spcPts val="300"/>
              </a:spcBef>
              <a:defRPr sz="1200">
                <a:latin typeface="Calibri"/>
              </a:defRPr>
            </a:pPr>
            <a:r>
              <a:rPr b="1">
                <a:solidFill>
                  <a:srgbClr val="DC2626"/>
                </a:solidFill>
              </a:rPr>
              <a:t>- Partial Unfinished Basement: </a:t>
            </a:r>
            <a:r>
              <a:rPr>
                <a:solidFill>
                  <a:srgbClr val="1E293B"/>
                </a:solidFill>
              </a:rPr>
              <a:t>-$11,300 layout discount</a:t>
            </a:r>
          </a:p>
          <a:p>
            <a:pPr>
              <a:spcBef>
                <a:spcPts val="300"/>
              </a:spcBef>
              <a:defRPr sz="1200">
                <a:latin typeface="Calibri"/>
              </a:defRPr>
            </a:pPr>
            <a:r>
              <a:rPr b="1">
                <a:solidFill>
                  <a:srgbClr val="1E3A8A"/>
                </a:solidFill>
              </a:rPr>
              <a:t>= Final Model Valuation: </a:t>
            </a:r>
            <a:r>
              <a:rPr>
                <a:solidFill>
                  <a:srgbClr val="1E293B"/>
                </a:solidFill>
              </a:rPr>
              <a:t>$352,858 (Closed at $378,000; 6.6% error)</a:t>
            </a:r>
          </a:p>
        </p:txBody>
      </p:sp>
      <p:sp>
        <p:nvSpPr>
          <p:cNvPr id="10" name="Rounded Rectangle 9"/>
          <p:cNvSpPr/>
          <p:nvPr/>
        </p:nvSpPr>
        <p:spPr>
          <a:xfrm>
            <a:off x="731520" y="5166360"/>
            <a:ext cx="10698480" cy="96012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30368"/>
            <a:ext cx="10149840" cy="777240"/>
          </a:xfrm>
          <a:prstGeom prst="rect">
            <a:avLst/>
          </a:prstGeom>
          <a:noFill/>
        </p:spPr>
        <p:txBody>
          <a:bodyPr wrap="square" lIns="0" tIns="0" rIns="0" bIns="0">
            <a:spAutoFit/>
          </a:bodyPr>
          <a:lstStyle/>
          <a:p>
            <a:pPr>
              <a:defRPr sz="1300" b="1">
                <a:solidFill>
                  <a:srgbClr val="D97706"/>
                </a:solidFill>
                <a:latin typeface="Calibri"/>
              </a:defRPr>
            </a:pPr>
            <a:r>
              <a:t>A Common-Sense Legal Rule to Remember (Non-Causal Warning):</a:t>
            </a:r>
          </a:p>
          <a:p>
            <a:pPr>
              <a:spcBef>
                <a:spcPts val="200"/>
              </a:spcBef>
              <a:defRPr sz="1200">
                <a:solidFill>
                  <a:srgbClr val="1E293B"/>
                </a:solidFill>
                <a:latin typeface="Calibri"/>
              </a:defRPr>
            </a:pPr>
            <a:r>
              <a:t>SHAP tells us how the model arrived at its prediction. It DOES NOT guarantee that if a homeowner spends $10,000 adding a bathroom, their house will automatically sell for $10,000 more. Correlation is not a physical warranty.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6. PRACTICAL DEPLOYMENT</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The Interactive Valuation Tool: A Live Web App</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We deployed our model into an easy-to-use Shiny web app with 1-click buttons and sensitivity curves</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12 of 13</a:t>
            </a:r>
          </a:p>
        </p:txBody>
      </p:sp>
      <p:sp>
        <p:nvSpPr>
          <p:cNvPr id="6" name="Rounded Rectangle 5"/>
          <p:cNvSpPr/>
          <p:nvPr/>
        </p:nvSpPr>
        <p:spPr>
          <a:xfrm>
            <a:off x="731520" y="1737360"/>
            <a:ext cx="338328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3383280"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3017520" cy="2743200"/>
          </a:xfrm>
          <a:prstGeom prst="rect">
            <a:avLst/>
          </a:prstGeom>
          <a:noFill/>
        </p:spPr>
        <p:txBody>
          <a:bodyPr wrap="square" lIns="0" tIns="0" rIns="0" bIns="0">
            <a:spAutoFit/>
          </a:bodyPr>
          <a:lstStyle/>
          <a:p>
            <a:pPr>
              <a:defRPr sz="1600" b="1">
                <a:solidFill>
                  <a:srgbClr val="1E3A8A"/>
                </a:solidFill>
                <a:latin typeface="Calibri"/>
              </a:defRPr>
            </a:pPr>
            <a:r>
              <a:t>1-Click Preset Buttons</a:t>
            </a:r>
          </a:p>
          <a:p>
            <a:pPr>
              <a:spcBef>
                <a:spcPts val="800"/>
              </a:spcBef>
              <a:defRPr sz="1300">
                <a:solidFill>
                  <a:srgbClr val="1E293B"/>
                </a:solidFill>
                <a:latin typeface="Calibri"/>
              </a:defRPr>
            </a:pPr>
            <a:r>
              <a:t>No need to type 80 numbers by hand:</a:t>
            </a:r>
            <a:br/>
            <a:br/>
            <a:r>
              <a:t>• Starter Home: $129,746</a:t>
            </a:r>
            <a:br/>
            <a:r>
              <a:t>  (1,050 sq ft, 1 bath, average quality)</a:t>
            </a:r>
            <a:br/>
            <a:br/>
            <a:r>
              <a:t>• Median Family Home: $179,418</a:t>
            </a:r>
            <a:br/>
            <a:r>
              <a:t>  (1,600 sq ft, 2.5 baths, good quality)</a:t>
            </a:r>
            <a:br/>
            <a:br/>
            <a:r>
              <a:t>• Luxury Estate: $328,090</a:t>
            </a:r>
            <a:br/>
            <a:r>
              <a:t>  (2,800 sq ft, 3.5 baths, excellent quality)</a:t>
            </a:r>
          </a:p>
        </p:txBody>
      </p:sp>
      <p:sp>
        <p:nvSpPr>
          <p:cNvPr id="9" name="Rounded Rectangle 8"/>
          <p:cNvSpPr/>
          <p:nvPr/>
        </p:nvSpPr>
        <p:spPr>
          <a:xfrm>
            <a:off x="4343400" y="1737360"/>
            <a:ext cx="338328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737360"/>
            <a:ext cx="338328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965960"/>
            <a:ext cx="3017520" cy="2743200"/>
          </a:xfrm>
          <a:prstGeom prst="rect">
            <a:avLst/>
          </a:prstGeom>
          <a:noFill/>
        </p:spPr>
        <p:txBody>
          <a:bodyPr wrap="square" lIns="0" tIns="0" rIns="0" bIns="0">
            <a:spAutoFit/>
          </a:bodyPr>
          <a:lstStyle/>
          <a:p>
            <a:pPr>
              <a:defRPr sz="1600" b="1">
                <a:solidFill>
                  <a:srgbClr val="2563EB"/>
                </a:solidFill>
                <a:latin typeface="Calibri"/>
              </a:defRPr>
            </a:pPr>
            <a:r>
              <a:t>Live 'What-If' Curve</a:t>
            </a:r>
          </a:p>
          <a:p>
            <a:pPr>
              <a:spcBef>
                <a:spcPts val="800"/>
              </a:spcBef>
              <a:defRPr sz="1300">
                <a:solidFill>
                  <a:srgbClr val="1E293B"/>
                </a:solidFill>
                <a:latin typeface="Calibri"/>
              </a:defRPr>
            </a:pPr>
            <a:r>
              <a:t>Interactive Living Area Trajectory:</a:t>
            </a:r>
            <a:br/>
            <a:br/>
            <a:r>
              <a:t>• Shows a smooth curve from 800 to 3,600 sq ft.</a:t>
            </a:r>
            <a:br/>
            <a:br/>
            <a:r>
              <a:t>• Marks a red diamond on the user's current house.</a:t>
            </a:r>
            <a:br/>
            <a:br/>
            <a:r>
              <a:t>• Lets homeowners instantly see: 'If I finish my 400 sq ft attic, how much does my property value jump?'</a:t>
            </a:r>
          </a:p>
        </p:txBody>
      </p:sp>
      <p:sp>
        <p:nvSpPr>
          <p:cNvPr id="12" name="Rounded Rectangle 11"/>
          <p:cNvSpPr/>
          <p:nvPr/>
        </p:nvSpPr>
        <p:spPr>
          <a:xfrm>
            <a:off x="7955279" y="1737360"/>
            <a:ext cx="338328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79" y="1737360"/>
            <a:ext cx="3383280" cy="914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59" y="1965960"/>
            <a:ext cx="3017520" cy="2743200"/>
          </a:xfrm>
          <a:prstGeom prst="rect">
            <a:avLst/>
          </a:prstGeom>
          <a:noFill/>
        </p:spPr>
        <p:txBody>
          <a:bodyPr wrap="square" lIns="0" tIns="0" rIns="0" bIns="0">
            <a:spAutoFit/>
          </a:bodyPr>
          <a:lstStyle/>
          <a:p>
            <a:pPr>
              <a:defRPr sz="1600" b="1">
                <a:solidFill>
                  <a:srgbClr val="059669"/>
                </a:solidFill>
                <a:latin typeface="Calibri"/>
              </a:defRPr>
            </a:pPr>
            <a:r>
              <a:t>Live Marginal Value Badges</a:t>
            </a:r>
          </a:p>
          <a:p>
            <a:pPr>
              <a:spcBef>
                <a:spcPts val="800"/>
              </a:spcBef>
              <a:defRPr sz="1300">
                <a:solidFill>
                  <a:srgbClr val="1E293B"/>
                </a:solidFill>
                <a:latin typeface="Calibri"/>
              </a:defRPr>
            </a:pPr>
            <a:r>
              <a:t>Instant dollar answers to practical questions:</a:t>
            </a:r>
            <a:br/>
            <a:br/>
            <a:r>
              <a:t>• +200 sq ft Living Space: +$16,000 lift</a:t>
            </a:r>
            <a:br/>
            <a:br/>
            <a:r>
              <a:t>• +1 Full Bathroom: +$9,500 lift</a:t>
            </a:r>
            <a:br/>
            <a:br/>
            <a:r>
              <a:t>• Complete Modern Remodel: +$12,000 lift</a:t>
            </a:r>
            <a:br/>
            <a:br/>
            <a:r>
              <a:t>Evaluated live on-the-fly by the trained model.</a:t>
            </a:r>
          </a:p>
        </p:txBody>
      </p:sp>
      <p:sp>
        <p:nvSpPr>
          <p:cNvPr id="15" name="Rounded Rectangle 14"/>
          <p:cNvSpPr/>
          <p:nvPr/>
        </p:nvSpPr>
        <p:spPr>
          <a:xfrm>
            <a:off x="731520" y="5029200"/>
            <a:ext cx="106984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120640"/>
            <a:ext cx="10149840" cy="914400"/>
          </a:xfrm>
          <a:prstGeom prst="rect">
            <a:avLst/>
          </a:prstGeom>
          <a:noFill/>
        </p:spPr>
        <p:txBody>
          <a:bodyPr wrap="square" lIns="0" tIns="0" rIns="0" bIns="0">
            <a:spAutoFit/>
          </a:bodyPr>
          <a:lstStyle/>
          <a:p>
            <a:pPr>
              <a:defRPr sz="1400" b="1">
                <a:solidFill>
                  <a:srgbClr val="1E3A8A"/>
                </a:solidFill>
                <a:latin typeface="Calibri"/>
              </a:defRPr>
            </a:pPr>
            <a:r>
              <a:t>Complete Transparency for Unexposed Details:</a:t>
            </a:r>
          </a:p>
          <a:p>
            <a:pPr>
              <a:spcBef>
                <a:spcPts val="200"/>
              </a:spcBef>
              <a:defRPr sz="1200">
                <a:solidFill>
                  <a:srgbClr val="1E293B"/>
                </a:solidFill>
                <a:latin typeface="Calibri"/>
              </a:defRPr>
            </a:pPr>
            <a:r>
              <a:t>For details not shown on the simple screen (like electrical panel type or foundation materials), the app clearly lists its assumptions using standard Ames medians so there are zero hidden surprises.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lIns="0" tIns="0" rIns="0" bIns="0">
            <a:spAutoFit/>
          </a:bodyPr>
          <a:lstStyle/>
          <a:p>
            <a:pPr>
              <a:defRPr sz="1100" b="1">
                <a:solidFill>
                  <a:srgbClr val="2563EB"/>
                </a:solidFill>
                <a:latin typeface="Calibri"/>
              </a:defRPr>
            </a:pPr>
            <a:r>
              <a:t>7. CONCLUSIONS &amp; WHAT WE LEARNED</a:t>
            </a:r>
          </a:p>
        </p:txBody>
      </p:sp>
      <p:sp>
        <p:nvSpPr>
          <p:cNvPr id="3" name="TextBox 2"/>
          <p:cNvSpPr txBox="1"/>
          <p:nvPr/>
        </p:nvSpPr>
        <p:spPr>
          <a:xfrm>
            <a:off x="731520" y="658368"/>
            <a:ext cx="10698480" cy="594360"/>
          </a:xfrm>
          <a:prstGeom prst="rect">
            <a:avLst/>
          </a:prstGeom>
          <a:noFill/>
        </p:spPr>
        <p:txBody>
          <a:bodyPr wrap="square" lIns="0" tIns="0" rIns="0" bIns="0">
            <a:spAutoFit/>
          </a:bodyPr>
          <a:lstStyle/>
          <a:p>
            <a:pPr>
              <a:defRPr sz="2600" b="1">
                <a:solidFill>
                  <a:srgbClr val="1E3A8A"/>
                </a:solidFill>
                <a:latin typeface="Calibri"/>
              </a:defRPr>
            </a:pPr>
            <a:r>
              <a:t>Key Takeaways: 4 Big Lessons from This Case Study</a:t>
            </a:r>
          </a:p>
        </p:txBody>
      </p:sp>
      <p:sp>
        <p:nvSpPr>
          <p:cNvPr id="4" name="TextBox 3"/>
          <p:cNvSpPr txBox="1"/>
          <p:nvPr/>
        </p:nvSpPr>
        <p:spPr>
          <a:xfrm>
            <a:off x="731520" y="1234440"/>
            <a:ext cx="10698480" cy="411480"/>
          </a:xfrm>
          <a:prstGeom prst="rect">
            <a:avLst/>
          </a:prstGeom>
          <a:noFill/>
        </p:spPr>
        <p:txBody>
          <a:bodyPr wrap="square" lIns="0" tIns="0" rIns="0" bIns="0">
            <a:spAutoFit/>
          </a:bodyPr>
          <a:lstStyle/>
          <a:p>
            <a:pPr>
              <a:defRPr sz="1300">
                <a:solidFill>
                  <a:srgbClr val="64748B"/>
                </a:solidFill>
                <a:latin typeface="Calibri"/>
              </a:defRPr>
            </a:pPr>
            <a:r>
              <a:t>Simple, practical lessons you can remember and explain with confidence</a:t>
            </a:r>
          </a:p>
        </p:txBody>
      </p:sp>
      <p:sp>
        <p:nvSpPr>
          <p:cNvPr id="5" name="TextBox 4"/>
          <p:cNvSpPr txBox="1"/>
          <p:nvPr/>
        </p:nvSpPr>
        <p:spPr>
          <a:xfrm>
            <a:off x="731520" y="6446520"/>
            <a:ext cx="10698480" cy="274320"/>
          </a:xfrm>
          <a:prstGeom prst="rect">
            <a:avLst/>
          </a:prstGeom>
          <a:noFill/>
        </p:spPr>
        <p:txBody>
          <a:bodyPr wrap="none" lIns="0" tIns="0" rIns="0" bIns="0">
            <a:spAutoFit/>
          </a:bodyPr>
          <a:lstStyle/>
          <a:p>
            <a:pPr>
              <a:defRPr sz="1000">
                <a:solidFill>
                  <a:srgbClr val="64748B"/>
                </a:solidFill>
                <a:latin typeface="Calibri"/>
              </a:defRPr>
            </a:pPr>
            <a:r>
              <a:t>Explainable House Price Prediction (Ames, Iowa Case Study) • Slide 13 of 13</a:t>
            </a:r>
          </a:p>
        </p:txBody>
      </p:sp>
      <p:sp>
        <p:nvSpPr>
          <p:cNvPr id="6" name="Rounded Rectangle 5"/>
          <p:cNvSpPr/>
          <p:nvPr/>
        </p:nvSpPr>
        <p:spPr>
          <a:xfrm>
            <a:off x="731520" y="1737360"/>
            <a:ext cx="512064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737360"/>
            <a:ext cx="91440" cy="19659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19"/>
            <a:ext cx="4663440" cy="1691640"/>
          </a:xfrm>
          <a:prstGeom prst="rect">
            <a:avLst/>
          </a:prstGeom>
          <a:noFill/>
        </p:spPr>
        <p:txBody>
          <a:bodyPr wrap="square" lIns="0" tIns="0" rIns="0" bIns="0">
            <a:spAutoFit/>
          </a:bodyPr>
          <a:lstStyle/>
          <a:p>
            <a:pPr>
              <a:defRPr sz="1600" b="1">
                <a:solidFill>
                  <a:srgbClr val="1E3A8A"/>
                </a:solidFill>
                <a:latin typeface="Calibri"/>
              </a:defRPr>
            </a:pPr>
            <a:r>
              <a:t>Lesson 1: Cleaning Inside the Model Stops Cheating</a:t>
            </a:r>
          </a:p>
          <a:p>
            <a:pPr>
              <a:spcBef>
                <a:spcPts val="600"/>
              </a:spcBef>
              <a:defRPr sz="1300">
                <a:solidFill>
                  <a:srgbClr val="1E293B"/>
                </a:solidFill>
                <a:latin typeface="Calibri"/>
              </a:defRPr>
            </a:pPr>
            <a:r>
              <a:t>Never clean data outside your cross-validation folds. Wrapping everything in a strict pipeline (mlr3pipelines) guarantees your test scores reflect true real-world performance.</a:t>
            </a:r>
          </a:p>
        </p:txBody>
      </p:sp>
      <p:sp>
        <p:nvSpPr>
          <p:cNvPr id="9" name="Rounded Rectangle 8"/>
          <p:cNvSpPr/>
          <p:nvPr/>
        </p:nvSpPr>
        <p:spPr>
          <a:xfrm>
            <a:off x="6172200" y="1737360"/>
            <a:ext cx="512064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737360"/>
            <a:ext cx="91440" cy="1965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74519"/>
            <a:ext cx="4663440" cy="1691640"/>
          </a:xfrm>
          <a:prstGeom prst="rect">
            <a:avLst/>
          </a:prstGeom>
          <a:noFill/>
        </p:spPr>
        <p:txBody>
          <a:bodyPr wrap="square" lIns="0" tIns="0" rIns="0" bIns="0">
            <a:spAutoFit/>
          </a:bodyPr>
          <a:lstStyle/>
          <a:p>
            <a:pPr>
              <a:defRPr sz="1600" b="1">
                <a:solidFill>
                  <a:srgbClr val="2563EB"/>
                </a:solidFill>
                <a:latin typeface="Calibri"/>
              </a:defRPr>
            </a:pPr>
            <a:r>
              <a:t>Lesson 2: Smart Features Beat Complex Tuning</a:t>
            </a:r>
          </a:p>
          <a:p>
            <a:pPr>
              <a:spcBef>
                <a:spcPts val="600"/>
              </a:spcBef>
              <a:defRPr sz="1300">
                <a:solidFill>
                  <a:srgbClr val="1E293B"/>
                </a:solidFill>
                <a:latin typeface="Calibri"/>
              </a:defRPr>
            </a:pPr>
            <a:r>
              <a:t>Multiplying Quality x Size alone gave us more accuracy than weeks of hyperparameter tweaking. Knowing your domain matters more than raw compute.</a:t>
            </a:r>
          </a:p>
        </p:txBody>
      </p:sp>
      <p:sp>
        <p:nvSpPr>
          <p:cNvPr id="12" name="Rounded Rectangle 11"/>
          <p:cNvSpPr/>
          <p:nvPr/>
        </p:nvSpPr>
        <p:spPr>
          <a:xfrm>
            <a:off x="731520" y="3886200"/>
            <a:ext cx="512064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886200"/>
            <a:ext cx="91440" cy="19659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023360"/>
            <a:ext cx="4663440" cy="1691640"/>
          </a:xfrm>
          <a:prstGeom prst="rect">
            <a:avLst/>
          </a:prstGeom>
          <a:noFill/>
        </p:spPr>
        <p:txBody>
          <a:bodyPr wrap="square" lIns="0" tIns="0" rIns="0" bIns="0">
            <a:spAutoFit/>
          </a:bodyPr>
          <a:lstStyle/>
          <a:p>
            <a:pPr>
              <a:defRPr sz="1600" b="1">
                <a:solidFill>
                  <a:srgbClr val="059669"/>
                </a:solidFill>
                <a:latin typeface="Calibri"/>
              </a:defRPr>
            </a:pPr>
            <a:r>
              <a:t>Lesson 3: Explainable AI Builds Real Trust</a:t>
            </a:r>
          </a:p>
          <a:p>
            <a:pPr>
              <a:spcBef>
                <a:spcPts val="600"/>
              </a:spcBef>
              <a:defRPr sz="1300">
                <a:solidFill>
                  <a:srgbClr val="1E293B"/>
                </a:solidFill>
                <a:latin typeface="Calibri"/>
              </a:defRPr>
            </a:pPr>
            <a:r>
              <a:t>Nobody trusts a silent black box. Giving users an itemized SHAP breakdown (receipt) bridges the gap between machine learning and human decision-making.</a:t>
            </a:r>
          </a:p>
        </p:txBody>
      </p:sp>
      <p:sp>
        <p:nvSpPr>
          <p:cNvPr id="15" name="Rounded Rectangle 14"/>
          <p:cNvSpPr/>
          <p:nvPr/>
        </p:nvSpPr>
        <p:spPr>
          <a:xfrm>
            <a:off x="6172200" y="3886200"/>
            <a:ext cx="512064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886200"/>
            <a:ext cx="91440" cy="1965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023360"/>
            <a:ext cx="4663440" cy="1691640"/>
          </a:xfrm>
          <a:prstGeom prst="rect">
            <a:avLst/>
          </a:prstGeom>
          <a:noFill/>
        </p:spPr>
        <p:txBody>
          <a:bodyPr wrap="square" lIns="0" tIns="0" rIns="0" bIns="0">
            <a:spAutoFit/>
          </a:bodyPr>
          <a:lstStyle/>
          <a:p>
            <a:pPr>
              <a:defRPr sz="1600" b="1">
                <a:solidFill>
                  <a:srgbClr val="D97706"/>
                </a:solidFill>
                <a:latin typeface="Calibri"/>
              </a:defRPr>
            </a:pPr>
            <a:r>
              <a:t>Lesson 4: Reproducibility Makes Work Professional</a:t>
            </a:r>
          </a:p>
          <a:p>
            <a:pPr>
              <a:spcBef>
                <a:spcPts val="600"/>
              </a:spcBef>
              <a:defRPr sz="1300">
                <a:solidFill>
                  <a:srgbClr val="1E293B"/>
                </a:solidFill>
                <a:latin typeface="Calibri"/>
              </a:defRPr>
            </a:pPr>
            <a:r>
              <a:t>Locking package versions (renv.lock), testing endpoints automatically, and compiling standalone reports means anyone can re-run this project anytime with identical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